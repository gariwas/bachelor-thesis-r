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8" r:id="rId5"/>
    <p:sldId id="264" r:id="rId6"/>
    <p:sldId id="260" r:id="rId7"/>
    <p:sldId id="261" r:id="rId8"/>
    <p:sldId id="265" r:id="rId9"/>
    <p:sldId id="262" r:id="rId10"/>
    <p:sldId id="279" r:id="rId11"/>
    <p:sldId id="266" r:id="rId12"/>
    <p:sldId id="267" r:id="rId13"/>
    <p:sldId id="257" r:id="rId14"/>
    <p:sldId id="269" r:id="rId15"/>
    <p:sldId id="281" r:id="rId16"/>
    <p:sldId id="282" r:id="rId17"/>
    <p:sldId id="283" r:id="rId18"/>
    <p:sldId id="284" r:id="rId19"/>
    <p:sldId id="272" r:id="rId20"/>
    <p:sldId id="275" r:id="rId21"/>
    <p:sldId id="280" r:id="rId22"/>
    <p:sldId id="274" r:id="rId23"/>
    <p:sldId id="276" r:id="rId24"/>
    <p:sldId id="277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FA438-7A48-86CA-13B4-8C84393D7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04D426-F9B7-9CA7-228B-F0BF03416A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73C1-7FD7-7ADE-B232-F37139E2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95F6-17DF-8E9E-076B-FC50CB4C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2C654-F6CA-D59B-2CD6-2BF45A3A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596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35293-4AB0-EF86-999B-51EFB9DD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9016-152E-FC7B-71DA-44ABC6095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6B3FF-A8DD-BD8F-511C-51F4DD37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EAAE5-132E-582F-74A6-BDBCB77B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8F6E9-8320-8319-CB64-6EDDDA48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57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446D-D754-BDE7-D503-3C50A5627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17F31-D06C-B781-EA27-490EDA7DD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5AA7-5078-6FEF-7A15-C74D22EF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18896-59D5-C151-0284-886B3E80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A1AA-945B-7B72-C4A7-715DD66F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D7DE-886C-D599-4C0E-FDBB2125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8789-72B7-F655-8087-46ECD91E27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30F28-E070-21AD-F1FA-C556A88AD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EE39D-BAC2-1B0C-3C62-CD91ECE2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E121F-E382-8FB8-898F-04D84025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68F94-F01F-A30B-7AF4-6E39ED37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8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51D9-6CCA-2EB1-47B0-12610B28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C2315-F1EB-EEAC-C4C8-CC373C6B2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ECE68-4E37-7540-D95C-2D1B05073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E632B-4687-37F0-9D8F-C916DC961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AD254-5E67-DA35-D97D-8647836D8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12FCC-4322-FD92-FDCE-1E32FC78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8472D-6E52-7F54-1092-3EE0C891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097B88-BB58-91E0-3CA3-ADE7940E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6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9CB0-701B-A7AD-27FB-67BB843F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5A5CD-3ABB-C720-7E1D-55093B60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A6462-115F-DA35-C1CA-FD3A78F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A1F7A-6155-ECCD-6A8F-E7A50485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1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05AA0-D5E4-70F9-8A30-BD4CEE41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3C5C2-4A63-A20F-43BA-B6CA6A92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9DA36-9E3F-83D9-DAB9-7930E4D2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6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0DB8-A9E2-047A-F949-8D6D1BDD0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1470-25DD-486F-30A9-F5082CBB0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04A99-D37E-9200-A32E-3C53275A1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D35C0-7111-5F30-236D-A4A72F3D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95462-ECB6-BBE1-4BE9-DECC2A69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839BB-48E4-7A57-FEAA-50732BA9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5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D6DA-2B4D-799F-7825-D10DC0CA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907E7-49E8-0481-AE76-237742481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6D998-A64D-D0AA-783B-D4BE31A94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20D7D6-4076-B142-03C3-E8AA71F5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F964A-A3AF-4574-47CD-074AEFDB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C787F-EF48-89AA-CB1B-3ED5B3F4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0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C6AC-3BC4-BBDE-14A7-49D597F3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1E4A6-EF09-02C2-B20D-D9F69870E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502DB-0C92-1AE9-1FC3-B6F026E3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52097-1618-E9C2-9FFD-D7C2E3AA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DF068-BA3E-1B62-2FF0-A060197A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6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8596A-1A3C-6BBC-417B-9592F1BA9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4C88E-E812-5EC1-701B-33EFB9E77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FAD15-F07E-C94A-CC9F-AA0EDB89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8EFA-DFF9-0F70-CF1C-A0A2C700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2B938-BAD8-7126-6EEF-93801C65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76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EE27E7-A7DA-595A-72A7-C1F1333F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406BC-D2D6-4601-369D-AF1510529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F1885-D4BE-0EF2-CAD7-30FF45CCF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9AE9B-288E-4BC6-928E-3E4952AE4ECD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C301-F747-2899-732D-50150CA77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04EB-806E-A943-293B-9CCC6D2BE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EC2D8-664D-4F2E-9EBF-1F1F02DBC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8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21" Type="http://schemas.openxmlformats.org/officeDocument/2006/relationships/image" Target="../media/image48.png"/><Relationship Id="rId17" Type="http://schemas.openxmlformats.org/officeDocument/2006/relationships/image" Target="../media/image43.png"/><Relationship Id="rId16" Type="http://schemas.openxmlformats.org/officeDocument/2006/relationships/image" Target="../media/image42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44.png"/><Relationship Id="rId15" Type="http://schemas.openxmlformats.org/officeDocument/2006/relationships/image" Target="../media/image41.png"/><Relationship Id="rId23" Type="http://schemas.openxmlformats.org/officeDocument/2006/relationships/image" Target="../media/image50.png"/><Relationship Id="rId19" Type="http://schemas.openxmlformats.org/officeDocument/2006/relationships/image" Target="../media/image46.png"/><Relationship Id="rId14" Type="http://schemas.openxmlformats.org/officeDocument/2006/relationships/image" Target="../media/image40.png"/><Relationship Id="rId22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60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openxmlformats.org/officeDocument/2006/relationships/image" Target="../media/image4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30.png"/><Relationship Id="rId5" Type="http://schemas.openxmlformats.org/officeDocument/2006/relationships/image" Target="../media/image28.png"/><Relationship Id="rId10" Type="http://schemas.openxmlformats.org/officeDocument/2006/relationships/image" Target="../media/image420.png"/><Relationship Id="rId4" Type="http://schemas.openxmlformats.org/officeDocument/2006/relationships/image" Target="../media/image27.png"/><Relationship Id="rId9" Type="http://schemas.openxmlformats.org/officeDocument/2006/relationships/image" Target="../media/image4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60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openxmlformats.org/officeDocument/2006/relationships/image" Target="../media/image4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30.png"/><Relationship Id="rId5" Type="http://schemas.openxmlformats.org/officeDocument/2006/relationships/image" Target="../media/image28.png"/><Relationship Id="rId10" Type="http://schemas.openxmlformats.org/officeDocument/2006/relationships/image" Target="../media/image420.png"/><Relationship Id="rId4" Type="http://schemas.openxmlformats.org/officeDocument/2006/relationships/image" Target="../media/image27.png"/><Relationship Id="rId9" Type="http://schemas.openxmlformats.org/officeDocument/2006/relationships/image" Target="../media/image4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60.png"/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12" Type="http://schemas.openxmlformats.org/officeDocument/2006/relationships/image" Target="../media/image4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30.png"/><Relationship Id="rId5" Type="http://schemas.openxmlformats.org/officeDocument/2006/relationships/image" Target="../media/image28.png"/><Relationship Id="rId10" Type="http://schemas.openxmlformats.org/officeDocument/2006/relationships/image" Target="../media/image420.png"/><Relationship Id="rId4" Type="http://schemas.openxmlformats.org/officeDocument/2006/relationships/image" Target="../media/image27.png"/><Relationship Id="rId9" Type="http://schemas.openxmlformats.org/officeDocument/2006/relationships/image" Target="../media/image4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1737CD-66AF-17E1-96D3-2D0A65126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949BD8-041F-9611-2499-23F0CE442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403" y="417098"/>
            <a:ext cx="11397193" cy="103916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Intermediate thesis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219554-4A19-07DC-1743-82C3D4F284B3}"/>
              </a:ext>
            </a:extLst>
          </p:cNvPr>
          <p:cNvSpPr txBox="1"/>
          <p:nvPr/>
        </p:nvSpPr>
        <p:spPr>
          <a:xfrm>
            <a:off x="2205566" y="2506157"/>
            <a:ext cx="77808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2" charset="0"/>
              </a:rPr>
              <a:t>Analysing Sectoral Unemployment Dynamics in the United States Using Autoregressive Models for Matrix-Valued Time Series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C5DCE-3EBE-B5E9-D68C-6CB89C4B3419}"/>
              </a:ext>
            </a:extLst>
          </p:cNvPr>
          <p:cNvSpPr txBox="1"/>
          <p:nvPr/>
        </p:nvSpPr>
        <p:spPr>
          <a:xfrm>
            <a:off x="4127062" y="4655762"/>
            <a:ext cx="393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Helvetica" panose="020B0604020202020204" pitchFamily="2" charset="0"/>
              </a:rPr>
              <a:t>Igor Vasilev · UM SBE · May 6, 2026</a:t>
            </a:r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627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A387-0EAB-E825-7BBA-327C8904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95DB3D-D008-7D0C-C869-0A6446706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0FC398-F671-BE49-2DB5-69DFDFFBD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48" y="453496"/>
            <a:ext cx="10248901" cy="103663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Research question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94FDF-C0FD-2AAE-AD36-1589347DAB2B}"/>
              </a:ext>
            </a:extLst>
          </p:cNvPr>
          <p:cNvSpPr txBox="1"/>
          <p:nvPr/>
        </p:nvSpPr>
        <p:spPr>
          <a:xfrm>
            <a:off x="2205566" y="2521059"/>
            <a:ext cx="77808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2" charset="0"/>
              </a:rPr>
              <a:t>We want to understand unemployment dynamics across economic sectors and states. To achieve this, we use the Matrix Autoregressive model (MAR) - a parsimonious extension of VAR designed for matrix-valued time series.</a:t>
            </a:r>
            <a:br>
              <a:rPr lang="en-US" sz="2800" dirty="0">
                <a:latin typeface="Helvetica" panose="020B0604020202020204" pitchFamily="2" charset="0"/>
              </a:rPr>
            </a:br>
            <a:endParaRPr lang="en-US" sz="2800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929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C9B13-6663-D6A8-16FA-1AE13E1D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B835F0-9B5D-4411-C611-3B47F15C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4B8152-B461-B3F8-D745-BF29D8564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41" y="0"/>
            <a:ext cx="3793544" cy="103663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First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5474A-117B-C524-7EC0-672F4991C8AD}"/>
              </a:ext>
            </a:extLst>
          </p:cNvPr>
          <p:cNvSpPr txBox="1"/>
          <p:nvPr/>
        </p:nvSpPr>
        <p:spPr>
          <a:xfrm>
            <a:off x="356326" y="953198"/>
            <a:ext cx="6439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anose="020B0604020202020204" pitchFamily="2" charset="0"/>
              </a:rPr>
              <a:t>1 State 1 Sector (Manufacturing in Illinois)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ECE8B-7ADB-01F1-9D75-F358AA143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52" y="1793091"/>
            <a:ext cx="11435095" cy="40282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0A93A-DC00-A82B-6BAE-C83E9737F03D}"/>
              </a:ext>
            </a:extLst>
          </p:cNvPr>
          <p:cNvSpPr txBox="1"/>
          <p:nvPr/>
        </p:nvSpPr>
        <p:spPr>
          <a:xfrm>
            <a:off x="4003118" y="593148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All Employees: Manufacturing in Illinois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DA2763-002C-165A-0500-61D8AB519B90}"/>
                  </a:ext>
                </a:extLst>
              </p:cNvPr>
              <p:cNvSpPr txBox="1"/>
              <p:nvPr/>
            </p:nvSpPr>
            <p:spPr>
              <a:xfrm>
                <a:off x="6577304" y="535298"/>
                <a:ext cx="509216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4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4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DA2763-002C-165A-0500-61D8AB519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304" y="535298"/>
                <a:ext cx="5092163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24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E3F4-7B87-69B7-4645-7F05A2C7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6EB4E4-EEB7-8D01-A366-0EF648FB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3799C-D92B-1BB8-3786-468BC7EF1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0741" y="0"/>
            <a:ext cx="5352142" cy="103663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Second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29216-D7F9-E59E-5675-A2018FF395E6}"/>
              </a:ext>
            </a:extLst>
          </p:cNvPr>
          <p:cNvSpPr txBox="1"/>
          <p:nvPr/>
        </p:nvSpPr>
        <p:spPr>
          <a:xfrm>
            <a:off x="344523" y="950745"/>
            <a:ext cx="8463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anose="020B0604020202020204" pitchFamily="2" charset="0"/>
              </a:rPr>
              <a:t>1 State 2 Sectors (Manufacturing and Construction in Illinois)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EE5E0-A4F5-3B05-B3A9-1EEDE300F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9" y="1451338"/>
            <a:ext cx="6217480" cy="2190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E0E6BE-24D7-3F2B-6C05-4CCEB9B9C3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49" y="4088774"/>
            <a:ext cx="6217480" cy="2322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07598B-1AAE-D9AB-7CCC-E5846CF1C522}"/>
              </a:ext>
            </a:extLst>
          </p:cNvPr>
          <p:cNvSpPr txBox="1"/>
          <p:nvPr/>
        </p:nvSpPr>
        <p:spPr>
          <a:xfrm>
            <a:off x="6753018" y="364158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All Employees: Manufacturing in Illinois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320B9-18FC-2230-413B-91165C0D9D9E}"/>
              </a:ext>
            </a:extLst>
          </p:cNvPr>
          <p:cNvSpPr txBox="1"/>
          <p:nvPr/>
        </p:nvSpPr>
        <p:spPr>
          <a:xfrm>
            <a:off x="6836373" y="6410812"/>
            <a:ext cx="4019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All Employees: Construction in Illinois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757AD7-1F70-F2D7-4ACD-0F6FB3DACD20}"/>
                  </a:ext>
                </a:extLst>
              </p:cNvPr>
              <p:cNvSpPr txBox="1"/>
              <p:nvPr/>
            </p:nvSpPr>
            <p:spPr>
              <a:xfrm>
                <a:off x="412995" y="3527353"/>
                <a:ext cx="44395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757AD7-1F70-F2D7-4ACD-0F6FB3DAC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95" y="3527353"/>
                <a:ext cx="4439549" cy="369332"/>
              </a:xfrm>
              <a:prstGeom prst="rect">
                <a:avLst/>
              </a:prstGeom>
              <a:blipFill>
                <a:blip r:embed="rId5"/>
                <a:stretch>
                  <a:fillRect l="-123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A6EFF3-D44F-E242-4EF1-0A5529FC7BDB}"/>
                  </a:ext>
                </a:extLst>
              </p:cNvPr>
              <p:cNvSpPr txBox="1"/>
              <p:nvPr/>
            </p:nvSpPr>
            <p:spPr>
              <a:xfrm>
                <a:off x="406006" y="3936944"/>
                <a:ext cx="44465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6A6EFF3-D44F-E242-4EF1-0A5529FC7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06" y="3936944"/>
                <a:ext cx="4446538" cy="369332"/>
              </a:xfrm>
              <a:prstGeom prst="rect">
                <a:avLst/>
              </a:prstGeom>
              <a:blipFill>
                <a:blip r:embed="rId6"/>
                <a:stretch>
                  <a:fillRect l="-5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B9C909-BA4F-034B-AFAE-7B6ECF0404C9}"/>
                  </a:ext>
                </a:extLst>
              </p:cNvPr>
              <p:cNvSpPr txBox="1"/>
              <p:nvPr/>
            </p:nvSpPr>
            <p:spPr>
              <a:xfrm>
                <a:off x="344523" y="5307652"/>
                <a:ext cx="5048241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B9C909-BA4F-034B-AFAE-7B6ECF040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23" y="5307652"/>
                <a:ext cx="5048241" cy="6987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0DB1F30-5267-E665-B8D2-FE4140D085DF}"/>
              </a:ext>
            </a:extLst>
          </p:cNvPr>
          <p:cNvSpPr txBox="1"/>
          <p:nvPr/>
        </p:nvSpPr>
        <p:spPr>
          <a:xfrm>
            <a:off x="344523" y="1691695"/>
            <a:ext cx="4192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2" charset="0"/>
              </a:rPr>
              <a:t>Vector Auto-Regression (VAR) </a:t>
            </a:r>
            <a:br>
              <a:rPr lang="en-US" sz="2000" b="1" dirty="0">
                <a:latin typeface="Helvetica" panose="020B0604020202020204" pitchFamily="2" charset="0"/>
              </a:rPr>
            </a:br>
            <a:r>
              <a:rPr lang="en-US" sz="2000" b="1" dirty="0">
                <a:latin typeface="Helvetica" panose="020B0604020202020204" pitchFamily="2" charset="0"/>
              </a:rPr>
              <a:t>Model - Bivariate VAR(1) — Vector and Matrix Form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2088B-5FC9-3031-C2A8-6D3256917C28}"/>
              </a:ext>
            </a:extLst>
          </p:cNvPr>
          <p:cNvSpPr txBox="1"/>
          <p:nvPr/>
        </p:nvSpPr>
        <p:spPr>
          <a:xfrm>
            <a:off x="344523" y="2821447"/>
            <a:ext cx="4569504" cy="66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Example Bivariate VAR(1) model - (yₜ, xₜ) and one lag: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6B1F32-2BAE-98A5-12D3-16A2EBD596F2}"/>
              </a:ext>
            </a:extLst>
          </p:cNvPr>
          <p:cNvSpPr txBox="1"/>
          <p:nvPr/>
        </p:nvSpPr>
        <p:spPr>
          <a:xfrm>
            <a:off x="344523" y="4654979"/>
            <a:ext cx="2379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Matrix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87367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3B166-5A41-3323-0853-E7FBB770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DA0455-3316-A826-109C-39C0C2C8F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BD8731-3B81-27CF-1404-629072832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320" y="0"/>
            <a:ext cx="4427633" cy="103663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Third 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3F703-F69C-A8AF-B18F-23D13090E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3" y="369993"/>
            <a:ext cx="7647517" cy="61180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249933-ECAB-9634-37F9-C3BE1A07CB43}"/>
              </a:ext>
            </a:extLst>
          </p:cNvPr>
          <p:cNvSpPr txBox="1"/>
          <p:nvPr/>
        </p:nvSpPr>
        <p:spPr>
          <a:xfrm>
            <a:off x="752543" y="1158701"/>
            <a:ext cx="27863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anose="020B0604020202020204" pitchFamily="2" charset="0"/>
              </a:rPr>
              <a:t>4 Sectors:</a:t>
            </a:r>
            <a:br>
              <a:rPr lang="en-US" sz="2400" dirty="0">
                <a:latin typeface="Helvetica" panose="020B0604020202020204" pitchFamily="2" charset="0"/>
              </a:rPr>
            </a:br>
            <a:r>
              <a:rPr lang="en-US" sz="2400" dirty="0">
                <a:latin typeface="Helvetica" panose="020B0604020202020204" pitchFamily="2" charset="0"/>
              </a:rPr>
              <a:t>  </a:t>
            </a:r>
            <a:r>
              <a:rPr lang="en-US" dirty="0">
                <a:latin typeface="Helvetica" panose="020B0604020202020204" pitchFamily="2" charset="0"/>
              </a:rPr>
              <a:t>- Manufacturing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   - Construction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   - Retail Trade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   - Government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anose="020B0604020202020204" pitchFamily="2" charset="0"/>
              </a:rPr>
              <a:t>4 States:</a:t>
            </a:r>
            <a:br>
              <a:rPr lang="en-US" sz="2400" dirty="0">
                <a:latin typeface="Helvetica" panose="020B0604020202020204" pitchFamily="2" charset="0"/>
              </a:rPr>
            </a:br>
            <a:r>
              <a:rPr lang="en-US" sz="2400" dirty="0">
                <a:latin typeface="Helvetica" panose="020B0604020202020204" pitchFamily="2" charset="0"/>
              </a:rPr>
              <a:t>  </a:t>
            </a:r>
            <a:r>
              <a:rPr lang="en-US" dirty="0">
                <a:latin typeface="Helvetica" panose="020B0604020202020204" pitchFamily="2" charset="0"/>
              </a:rPr>
              <a:t>- Illinois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   - Ohio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   - Michigan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   - Indiana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anose="020B0604020202020204" pitchFamily="2" charset="0"/>
              </a:rPr>
              <a:t>Time dimension</a:t>
            </a:r>
            <a:br>
              <a:rPr lang="en-US" dirty="0">
                <a:latin typeface="Helvetica" panose="020B0604020202020204" pitchFamily="2" charset="0"/>
              </a:rPr>
            </a:br>
            <a:endParaRPr lang="en-US" dirty="0">
              <a:latin typeface="Helvetica" panose="020B0604020202020204" pitchFamily="2" charset="0"/>
            </a:endParaRPr>
          </a:p>
          <a:p>
            <a:r>
              <a:rPr lang="en-US" dirty="0">
                <a:latin typeface="Helvetica" panose="020B0604020202020204" pitchFamily="2" charset="0"/>
              </a:rPr>
              <a:t>Together, sectors × states × time form a       3-dimensional tensor</a:t>
            </a:r>
          </a:p>
        </p:txBody>
      </p:sp>
    </p:spTree>
    <p:extLst>
      <p:ext uri="{BB962C8B-B14F-4D97-AF65-F5344CB8AC3E}">
        <p14:creationId xmlns:p14="http://schemas.microsoft.com/office/powerpoint/2010/main" val="44213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5320-3332-B6DB-E922-4792B466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BD4240-9670-492B-2742-98998D838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4763B2-BFDB-FAAF-E511-710B14471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751" y="999725"/>
            <a:ext cx="7391997" cy="5730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632353-A743-5ED2-A686-A2CEF531D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27" y="0"/>
            <a:ext cx="6673851" cy="10366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Tensor Format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BFF36-4274-61B2-6888-D988875F31BF}"/>
              </a:ext>
            </a:extLst>
          </p:cNvPr>
          <p:cNvSpPr txBox="1"/>
          <p:nvPr/>
        </p:nvSpPr>
        <p:spPr>
          <a:xfrm>
            <a:off x="272227" y="1464104"/>
            <a:ext cx="38105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anose="020B0604020202020204" pitchFamily="2" charset="0"/>
              </a:rPr>
              <a:t>Colors represent different sectors:</a:t>
            </a:r>
            <a:br>
              <a:rPr lang="en-US" dirty="0">
                <a:latin typeface="Helvetica" panose="020B0604020202020204" pitchFamily="2" charset="0"/>
              </a:rPr>
            </a:b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Purple GOVT – Government 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Green RET – Retail Trade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Orange CONS – Construction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Blue MFG – Manufacturing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anose="020B0604020202020204" pitchFamily="2" charset="0"/>
              </a:rPr>
              <a:t>Gradient represents different states:</a:t>
            </a:r>
            <a:br>
              <a:rPr lang="en-US" b="1" dirty="0">
                <a:latin typeface="Helvetica" panose="020B0604020202020204" pitchFamily="2" charset="0"/>
              </a:rPr>
            </a:br>
            <a:br>
              <a:rPr lang="en-US" b="1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IL – Illinois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OH – Ohio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MI – Michigan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- IN – Indiana</a:t>
            </a:r>
          </a:p>
        </p:txBody>
      </p:sp>
    </p:spTree>
    <p:extLst>
      <p:ext uri="{BB962C8B-B14F-4D97-AF65-F5344CB8AC3E}">
        <p14:creationId xmlns:p14="http://schemas.microsoft.com/office/powerpoint/2010/main" val="68494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BC953-77E5-8414-C4A8-182595C3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F8B710-57F3-1652-9B12-DD1D36BD5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F3840B-21C7-6898-AAF9-E4CE507B5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417" y="0"/>
            <a:ext cx="6381404" cy="10366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What do we want?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1E5B0D-DA8B-F862-BF44-21E748741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678" y="2223122"/>
            <a:ext cx="4630161" cy="43486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568AF3-4206-1219-A940-FB95242EF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839" y="2223122"/>
            <a:ext cx="4630161" cy="43486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5ADA1B-EFBE-FAF6-380A-31EF1DAA240D}"/>
              </a:ext>
            </a:extLst>
          </p:cNvPr>
          <p:cNvSpPr txBox="1"/>
          <p:nvPr/>
        </p:nvSpPr>
        <p:spPr>
          <a:xfrm>
            <a:off x="4590608" y="1679285"/>
            <a:ext cx="18266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Helvetica Bold" panose="00000500000000000000" pitchFamily="50" charset="0"/>
                <a:ea typeface="Helvetica Bold" panose="00000500000000000000" pitchFamily="50" charset="0"/>
              </a:rPr>
              <a:t>Time 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AADF-C420-347A-883D-7FB5A573FB5B}"/>
              </a:ext>
            </a:extLst>
          </p:cNvPr>
          <p:cNvSpPr txBox="1"/>
          <p:nvPr/>
        </p:nvSpPr>
        <p:spPr>
          <a:xfrm>
            <a:off x="9169588" y="1679285"/>
            <a:ext cx="23283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Helvetica Bold" panose="00000500000000000000" pitchFamily="50" charset="0"/>
                <a:ea typeface="Helvetica Bold" panose="00000500000000000000" pitchFamily="50" charset="0"/>
              </a:rPr>
              <a:t>Time t-1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8C2C0-20EE-0C91-D29A-58F40537E1E3}"/>
              </a:ext>
            </a:extLst>
          </p:cNvPr>
          <p:cNvSpPr txBox="1"/>
          <p:nvPr/>
        </p:nvSpPr>
        <p:spPr>
          <a:xfrm>
            <a:off x="235000" y="1843950"/>
            <a:ext cx="27478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We want to estimate how the employment matrix at time t-1 linearly predicts the matrix at time t, capturing both cross-state and cross-sector dynamics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7238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8A2D-55F4-4E8F-A60E-A111CE4D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C4BE28-5F15-5BEB-7794-1D3AFCD8E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0E0C51-2C0F-D5D5-325E-90E254BCA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1" y="0"/>
            <a:ext cx="10392528" cy="10366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Vector Auto Regression (VAR)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62B447-CC54-A100-5FC8-DD777E8C4B8A}"/>
                  </a:ext>
                </a:extLst>
              </p:cNvPr>
              <p:cNvSpPr txBox="1"/>
              <p:nvPr/>
            </p:nvSpPr>
            <p:spPr>
              <a:xfrm>
                <a:off x="915566" y="2815379"/>
                <a:ext cx="44395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62B447-CC54-A100-5FC8-DD777E8C4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566" y="2815379"/>
                <a:ext cx="4439549" cy="369332"/>
              </a:xfrm>
              <a:prstGeom prst="rect">
                <a:avLst/>
              </a:prstGeom>
              <a:blipFill>
                <a:blip r:embed="rId3"/>
                <a:stretch>
                  <a:fillRect l="-123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13EBC9-5CF1-9ADB-FF11-F3CB07B97AE2}"/>
                  </a:ext>
                </a:extLst>
              </p:cNvPr>
              <p:cNvSpPr txBox="1"/>
              <p:nvPr/>
            </p:nvSpPr>
            <p:spPr>
              <a:xfrm>
                <a:off x="908577" y="3224970"/>
                <a:ext cx="44465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13EBC9-5CF1-9ADB-FF11-F3CB07B97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77" y="3224970"/>
                <a:ext cx="4446538" cy="369332"/>
              </a:xfrm>
              <a:prstGeom prst="rect">
                <a:avLst/>
              </a:prstGeom>
              <a:blipFill>
                <a:blip r:embed="rId4"/>
                <a:stretch>
                  <a:fillRect l="-41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43B625-B907-6CA1-0744-CE3BFA61C2D7}"/>
                  </a:ext>
                </a:extLst>
              </p:cNvPr>
              <p:cNvSpPr txBox="1"/>
              <p:nvPr/>
            </p:nvSpPr>
            <p:spPr>
              <a:xfrm>
                <a:off x="847094" y="4595678"/>
                <a:ext cx="5048241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C43B625-B907-6CA1-0744-CE3BFA61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94" y="4595678"/>
                <a:ext cx="5048241" cy="6987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9B45763-71E8-D8A7-0B8D-8571CE1419CF}"/>
              </a:ext>
            </a:extLst>
          </p:cNvPr>
          <p:cNvSpPr txBox="1"/>
          <p:nvPr/>
        </p:nvSpPr>
        <p:spPr>
          <a:xfrm>
            <a:off x="847094" y="2109473"/>
            <a:ext cx="4569504" cy="66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2" charset="0"/>
              </a:rPr>
              <a:t>Example Bivariate VAR(1) model - (yₜ, xₜ) and one lag: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CF7804-8408-2E4F-9B07-7D783447E8CB}"/>
              </a:ext>
            </a:extLst>
          </p:cNvPr>
          <p:cNvSpPr txBox="1"/>
          <p:nvPr/>
        </p:nvSpPr>
        <p:spPr>
          <a:xfrm>
            <a:off x="847094" y="3943005"/>
            <a:ext cx="2379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2" charset="0"/>
              </a:rPr>
              <a:t>Matrix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773899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C2D3-587D-DA84-0831-A88DE91B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A27064-3104-11F4-7C22-274CC561F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067A62-BAA2-0DB6-6A7B-D83B711A4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918" y="27037"/>
            <a:ext cx="3452008" cy="103663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Stacking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33631-DD97-5C30-D0F6-1C3E57C76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661" y="2206757"/>
            <a:ext cx="3588531" cy="33703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1BD5BD-16F5-A183-AED6-612FCFFD3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585" y="2206758"/>
            <a:ext cx="3588531" cy="3370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BD8913-3CE4-A18F-E50E-2018E48E45CA}"/>
              </a:ext>
            </a:extLst>
          </p:cNvPr>
          <p:cNvSpPr txBox="1"/>
          <p:nvPr/>
        </p:nvSpPr>
        <p:spPr>
          <a:xfrm>
            <a:off x="58095" y="1829083"/>
            <a:ext cx="23449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Instead of sector/state labels, assign numeric indices to each cell.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Stack all columns on top of each other to obtain a 16-dimensional vector. This is the standard VAR representation.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DA01C-B56D-F4AF-5611-68A8985C95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44" y="0"/>
            <a:ext cx="88174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667E76-D24D-AD94-1EC6-1DF5E49DBB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509" y="0"/>
            <a:ext cx="881743" cy="6858000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22ABE37-72B6-FA66-D362-5FAAC9EC2173}"/>
              </a:ext>
            </a:extLst>
          </p:cNvPr>
          <p:cNvSpPr/>
          <p:nvPr/>
        </p:nvSpPr>
        <p:spPr>
          <a:xfrm>
            <a:off x="5322046" y="3515020"/>
            <a:ext cx="620194" cy="59331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FBBCA73-4E5A-B52B-17C1-AA495F366865}"/>
              </a:ext>
            </a:extLst>
          </p:cNvPr>
          <p:cNvSpPr/>
          <p:nvPr/>
        </p:nvSpPr>
        <p:spPr>
          <a:xfrm>
            <a:off x="10484761" y="3515020"/>
            <a:ext cx="620194" cy="59331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7193D-F9A2-E49D-1F98-5F8E0CE52F32}"/>
              </a:ext>
            </a:extLst>
          </p:cNvPr>
          <p:cNvSpPr txBox="1"/>
          <p:nvPr/>
        </p:nvSpPr>
        <p:spPr>
          <a:xfrm>
            <a:off x="3058234" y="1642200"/>
            <a:ext cx="18266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Helvetica Bold" panose="00000500000000000000" pitchFamily="50" charset="0"/>
                <a:ea typeface="Helvetica Bold" panose="00000500000000000000" pitchFamily="50" charset="0"/>
              </a:rPr>
              <a:t>Time 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2FEB1-1321-0665-9ED0-27F4F1E2D465}"/>
              </a:ext>
            </a:extLst>
          </p:cNvPr>
          <p:cNvSpPr txBox="1"/>
          <p:nvPr/>
        </p:nvSpPr>
        <p:spPr>
          <a:xfrm>
            <a:off x="7943122" y="1644064"/>
            <a:ext cx="23283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Helvetica Bold" panose="00000500000000000000" pitchFamily="50" charset="0"/>
                <a:ea typeface="Helvetica Bold" panose="00000500000000000000" pitchFamily="50" charset="0"/>
              </a:rPr>
              <a:t>Time t-1</a:t>
            </a:r>
          </a:p>
        </p:txBody>
      </p:sp>
    </p:spTree>
    <p:extLst>
      <p:ext uri="{BB962C8B-B14F-4D97-AF65-F5344CB8AC3E}">
        <p14:creationId xmlns:p14="http://schemas.microsoft.com/office/powerpoint/2010/main" val="373389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B9210-63C7-24B2-995D-4614E8889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D66E60-3D83-9EDF-43A7-05826A02D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454F84-0981-9BCA-D40B-4EEBF91C9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347" y="25926"/>
            <a:ext cx="3862918" cy="103663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Problem?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635E3-DA13-FD49-B34C-3890AA335D2C}"/>
              </a:ext>
            </a:extLst>
          </p:cNvPr>
          <p:cNvSpPr txBox="1"/>
          <p:nvPr/>
        </p:nvSpPr>
        <p:spPr>
          <a:xfrm>
            <a:off x="297010" y="1217348"/>
            <a:ext cx="327862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The coefficient matrix </a:t>
            </a: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contains </a:t>
            </a:r>
            <a:r>
              <a:rPr lang="en-US" b="1" dirty="0">
                <a:latin typeface="Helvetica" panose="020B0604020202020204" pitchFamily="2" charset="0"/>
              </a:rPr>
              <a:t>256 parameters</a:t>
            </a:r>
            <a:r>
              <a:rPr lang="en-US" dirty="0">
                <a:latin typeface="Helvetica" panose="020B0604020202020204" pitchFamily="2" charset="0"/>
              </a:rPr>
              <a:t> (16 × 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Our goal is to understand dynamics - not to identify every pairwise state-sector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This is the </a:t>
            </a:r>
            <a:r>
              <a:rPr lang="en-US" b="1" dirty="0">
                <a:latin typeface="Helvetica" panose="020B0604020202020204" pitchFamily="2" charset="0"/>
              </a:rPr>
              <a:t>parsimony problem</a:t>
            </a:r>
            <a:r>
              <a:rPr lang="en-US" dirty="0">
                <a:latin typeface="Helvetica" panose="020B0604020202020204" pitchFamily="2" charset="0"/>
              </a:rPr>
              <a:t>: too many parameters relative to the signal we seek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Solution: impose structure by decomposing </a:t>
            </a: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into two smaller matrices </a:t>
            </a:r>
            <a:r>
              <a:rPr lang="en-US" b="1" dirty="0">
                <a:latin typeface="Helvetica" panose="020B0604020202020204" pitchFamily="2" charset="0"/>
              </a:rPr>
              <a:t>A</a:t>
            </a:r>
            <a:r>
              <a:rPr lang="en-US" dirty="0">
                <a:latin typeface="Helvetica" panose="020B0604020202020204" pitchFamily="2" charset="0"/>
              </a:rPr>
              <a:t> (4 × 4) and </a:t>
            </a: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(4 × 4), reducing parameters to </a:t>
            </a:r>
            <a:r>
              <a:rPr lang="en-US" b="1" dirty="0">
                <a:latin typeface="Helvetica" panose="020B0604020202020204" pitchFamily="2" charset="0"/>
              </a:rPr>
              <a:t>32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510F87-64D6-A86F-1430-1261AF70A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649" y="1283841"/>
            <a:ext cx="629523" cy="4896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0CCBFB-CAA6-4F46-E088-078BF8257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185" y="1292154"/>
            <a:ext cx="629523" cy="4896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7BF05E-D4C2-87EA-1580-90667159E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06" y="1217348"/>
            <a:ext cx="5029272" cy="5029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EBE0B7-D211-DD79-4CDB-32F7C55C47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195" y="1292154"/>
            <a:ext cx="629523" cy="4896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C49079-9017-FBA1-72DF-ACB89394F1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948" y="1283842"/>
            <a:ext cx="629523" cy="4896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2CD374-82E1-E10A-386B-7ACC92773CC7}"/>
              </a:ext>
            </a:extLst>
          </p:cNvPr>
          <p:cNvSpPr txBox="1"/>
          <p:nvPr/>
        </p:nvSpPr>
        <p:spPr>
          <a:xfrm>
            <a:off x="4944203" y="343932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F0A85-6D95-E0CA-E514-8420884DE1AE}"/>
              </a:ext>
            </a:extLst>
          </p:cNvPr>
          <p:cNvSpPr txBox="1"/>
          <p:nvPr/>
        </p:nvSpPr>
        <p:spPr>
          <a:xfrm>
            <a:off x="10980945" y="3464353"/>
            <a:ext cx="648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131D3E-E653-C18A-FCD7-32AEC34B5138}"/>
              </a:ext>
            </a:extLst>
          </p:cNvPr>
          <p:cNvSpPr txBox="1"/>
          <p:nvPr/>
        </p:nvSpPr>
        <p:spPr>
          <a:xfrm>
            <a:off x="4073424" y="3444679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B006B1-BDD4-D10C-0B76-531754E57AFC}"/>
              </a:ext>
            </a:extLst>
          </p:cNvPr>
          <p:cNvSpPr txBox="1"/>
          <p:nvPr/>
        </p:nvSpPr>
        <p:spPr>
          <a:xfrm>
            <a:off x="10223813" y="3500881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E4CA9B-985A-33F2-9EED-15AAE47B4CD8}"/>
                  </a:ext>
                </a:extLst>
              </p:cNvPr>
              <p:cNvSpPr txBox="1"/>
              <p:nvPr/>
            </p:nvSpPr>
            <p:spPr>
              <a:xfrm>
                <a:off x="3417915" y="6133357"/>
                <a:ext cx="8843853" cy="698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E4CA9B-985A-33F2-9EED-15AAE47B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915" y="6133357"/>
                <a:ext cx="8843853" cy="6987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904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24CC7-6B75-648C-1C8B-A304746C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C7D960-B759-C4E0-447B-2720B0221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0569CC-57CA-961C-1144-0138B32E9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008" y="488480"/>
            <a:ext cx="10699656" cy="1036637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From VAR to MAR: Structured Coefficient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E46A2-D624-0D4E-8251-497350E0C4C1}"/>
              </a:ext>
            </a:extLst>
          </p:cNvPr>
          <p:cNvSpPr txBox="1"/>
          <p:nvPr/>
        </p:nvSpPr>
        <p:spPr>
          <a:xfrm>
            <a:off x="1155575" y="5886072"/>
            <a:ext cx="995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Coefficient matrix B from VAR has the same purpose as matrices A and B from MAR</a:t>
            </a:r>
          </a:p>
          <a:p>
            <a:r>
              <a:rPr lang="en-US" dirty="0">
                <a:latin typeface="Helvetica" panose="020B0604020202020204" pitchFamily="2" charset="0"/>
              </a:rPr>
              <a:t>Matrix A explain the column (state) interaction while matrix B explains the row (sector) dynamics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E7B94-B8A3-1E33-C3C6-19532AF78681}"/>
              </a:ext>
            </a:extLst>
          </p:cNvPr>
          <p:cNvSpPr txBox="1"/>
          <p:nvPr/>
        </p:nvSpPr>
        <p:spPr>
          <a:xfrm>
            <a:off x="1821820" y="6307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8A2DD1-D386-7A82-63D5-041955346BD4}"/>
                  </a:ext>
                </a:extLst>
              </p:cNvPr>
              <p:cNvSpPr txBox="1"/>
              <p:nvPr/>
            </p:nvSpPr>
            <p:spPr>
              <a:xfrm>
                <a:off x="6903829" y="2933625"/>
                <a:ext cx="427883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4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8A2DD1-D386-7A82-63D5-041955346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829" y="2933625"/>
                <a:ext cx="4278835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0A5239-FAEC-2D4B-118A-CD7AAA6399E0}"/>
                  </a:ext>
                </a:extLst>
              </p:cNvPr>
              <p:cNvSpPr txBox="1"/>
              <p:nvPr/>
            </p:nvSpPr>
            <p:spPr>
              <a:xfrm>
                <a:off x="787140" y="2575281"/>
                <a:ext cx="44395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0A5239-FAEC-2D4B-118A-CD7AAA639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40" y="2575281"/>
                <a:ext cx="4439549" cy="369332"/>
              </a:xfrm>
              <a:prstGeom prst="rect">
                <a:avLst/>
              </a:prstGeom>
              <a:blipFill>
                <a:blip r:embed="rId4"/>
                <a:stretch>
                  <a:fillRect l="-12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4C2C85-6D64-D721-8C67-C7FABA266D61}"/>
                  </a:ext>
                </a:extLst>
              </p:cNvPr>
              <p:cNvSpPr txBox="1"/>
              <p:nvPr/>
            </p:nvSpPr>
            <p:spPr>
              <a:xfrm>
                <a:off x="780151" y="2984872"/>
                <a:ext cx="44465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4C2C85-6D64-D721-8C67-C7FABA26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51" y="2984872"/>
                <a:ext cx="4446538" cy="369332"/>
              </a:xfrm>
              <a:prstGeom prst="rect">
                <a:avLst/>
              </a:prstGeom>
              <a:blipFill>
                <a:blip r:embed="rId5"/>
                <a:stretch>
                  <a:fillRect l="-5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BF426-0576-FE3C-C1B8-7A62FD38CD58}"/>
                  </a:ext>
                </a:extLst>
              </p:cNvPr>
              <p:cNvSpPr txBox="1"/>
              <p:nvPr/>
            </p:nvSpPr>
            <p:spPr>
              <a:xfrm>
                <a:off x="718668" y="4355580"/>
                <a:ext cx="5048241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BF426-0576-FE3C-C1B8-7A62FD38C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68" y="4355580"/>
                <a:ext cx="5048241" cy="6987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992825DA-4501-A68D-C373-6DC63D8C5114}"/>
              </a:ext>
            </a:extLst>
          </p:cNvPr>
          <p:cNvSpPr txBox="1"/>
          <p:nvPr/>
        </p:nvSpPr>
        <p:spPr>
          <a:xfrm>
            <a:off x="718668" y="1869375"/>
            <a:ext cx="4569504" cy="66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2" charset="0"/>
              </a:rPr>
              <a:t>Example Bivariate VAR(1) model - (yₜ, xₜ) and one lag: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922191-1716-9054-9C31-85F8FC71497D}"/>
              </a:ext>
            </a:extLst>
          </p:cNvPr>
          <p:cNvSpPr txBox="1"/>
          <p:nvPr/>
        </p:nvSpPr>
        <p:spPr>
          <a:xfrm>
            <a:off x="718668" y="3702907"/>
            <a:ext cx="2379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2" charset="0"/>
              </a:rPr>
              <a:t>Matrix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49914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0CE8-E459-1B4F-0D16-BDDE9895E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EE5A39-4634-5B49-6134-C6DF93EC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3B5C2C-D200-5B3E-9813-B3421B28D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454" y="146640"/>
            <a:ext cx="2365353" cy="945628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MAR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A13CA-DB60-B970-4974-390370712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" y="2387894"/>
            <a:ext cx="2421564" cy="2274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3D1EDB-5146-61A8-09FF-0A2DD7520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765" y="2387894"/>
            <a:ext cx="2421564" cy="2274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31CD6B-C24B-007D-F0A0-FB8AB29EF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264" y="2231660"/>
            <a:ext cx="2466501" cy="2466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7B43A3-E369-66A6-0AD6-429310EFB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959" y="2195749"/>
            <a:ext cx="2466501" cy="2466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2D612D-2C4B-8B18-8E0F-D0CA5BC9D3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963" y="5190234"/>
            <a:ext cx="1459044" cy="13703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365D848-6F86-278D-1DB2-0E6EAC89CF5B}"/>
              </a:ext>
            </a:extLst>
          </p:cNvPr>
          <p:cNvSpPr txBox="1"/>
          <p:nvPr/>
        </p:nvSpPr>
        <p:spPr>
          <a:xfrm>
            <a:off x="8729431" y="3075056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F4DDB-0A3C-1DF7-9CEB-E314BBE189CA}"/>
              </a:ext>
            </a:extLst>
          </p:cNvPr>
          <p:cNvSpPr txBox="1"/>
          <p:nvPr/>
        </p:nvSpPr>
        <p:spPr>
          <a:xfrm>
            <a:off x="6191053" y="3075056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4B51E7-5F8B-7DBE-5CA7-37082FC9FFEB}"/>
              </a:ext>
            </a:extLst>
          </p:cNvPr>
          <p:cNvSpPr txBox="1"/>
          <p:nvPr/>
        </p:nvSpPr>
        <p:spPr>
          <a:xfrm>
            <a:off x="2996524" y="3013500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F22899-F7DF-AEEC-13C4-86EE4DC8EE6E}"/>
              </a:ext>
            </a:extLst>
          </p:cNvPr>
          <p:cNvSpPr txBox="1"/>
          <p:nvPr/>
        </p:nvSpPr>
        <p:spPr>
          <a:xfrm>
            <a:off x="10104263" y="5420800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CB735A-D73C-0C20-91C6-1D7AEAF571BA}"/>
                  </a:ext>
                </a:extLst>
              </p:cNvPr>
              <p:cNvSpPr txBox="1"/>
              <p:nvPr/>
            </p:nvSpPr>
            <p:spPr>
              <a:xfrm>
                <a:off x="5280986" y="728860"/>
                <a:ext cx="427883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4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40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CB735A-D73C-0C20-91C6-1D7AEAF57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986" y="728860"/>
                <a:ext cx="4278835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023C77-304D-C77B-2561-B6EB6330DF80}"/>
                  </a:ext>
                </a:extLst>
              </p:cNvPr>
              <p:cNvSpPr txBox="1"/>
              <p:nvPr/>
            </p:nvSpPr>
            <p:spPr>
              <a:xfrm>
                <a:off x="910527" y="4474007"/>
                <a:ext cx="10954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023C77-304D-C77B-2561-B6EB6330D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27" y="4474007"/>
                <a:ext cx="1095427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B90498-34CB-EA6F-8070-08B3EE523C3C}"/>
                  </a:ext>
                </a:extLst>
              </p:cNvPr>
              <p:cNvSpPr txBox="1"/>
              <p:nvPr/>
            </p:nvSpPr>
            <p:spPr>
              <a:xfrm>
                <a:off x="4753066" y="4474007"/>
                <a:ext cx="77894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B90498-34CB-EA6F-8070-08B3EE523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066" y="4474007"/>
                <a:ext cx="778949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AE8C3B8-FF2C-19BF-8346-4D7909B3EFEC}"/>
                  </a:ext>
                </a:extLst>
              </p:cNvPr>
              <p:cNvSpPr txBox="1"/>
              <p:nvPr/>
            </p:nvSpPr>
            <p:spPr>
              <a:xfrm>
                <a:off x="7175567" y="4474007"/>
                <a:ext cx="128514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AE8C3B8-FF2C-19BF-8346-4D7909B3E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67" y="4474007"/>
                <a:ext cx="1285144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C217D7-85EA-288C-3641-414E5CA5920E}"/>
                  </a:ext>
                </a:extLst>
              </p:cNvPr>
              <p:cNvSpPr txBox="1"/>
              <p:nvPr/>
            </p:nvSpPr>
            <p:spPr>
              <a:xfrm>
                <a:off x="9903473" y="4459398"/>
                <a:ext cx="8384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C217D7-85EA-288C-3641-414E5CA59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473" y="4459398"/>
                <a:ext cx="838415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2BEC72-C6E8-CD88-8189-F4A34AE69E80}"/>
                  </a:ext>
                </a:extLst>
              </p:cNvPr>
              <p:cNvSpPr txBox="1"/>
              <p:nvPr/>
            </p:nvSpPr>
            <p:spPr>
              <a:xfrm>
                <a:off x="10853204" y="6418020"/>
                <a:ext cx="84177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2BEC72-C6E8-CD88-8189-F4A34AE69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204" y="6418020"/>
                <a:ext cx="841771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194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CF1E0-5646-2466-AC8F-50B00631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1B2E-7CCB-875A-7DE5-381C973703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42A6D-FF04-BD26-4CF9-853BC21F80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FED417-CDE0-9630-75D8-507E6D8A9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CEF6E9-39BA-D88A-CD32-EDC3A6BB6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605" y="2003895"/>
            <a:ext cx="3330687" cy="3330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1FDC09-D9F2-DEE0-113B-122153258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923" y="2025446"/>
            <a:ext cx="3330687" cy="33306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E096BB-1653-959D-D102-40AC9AC3A93A}"/>
              </a:ext>
            </a:extLst>
          </p:cNvPr>
          <p:cNvSpPr txBox="1">
            <a:spLocks/>
          </p:cNvSpPr>
          <p:nvPr/>
        </p:nvSpPr>
        <p:spPr>
          <a:xfrm>
            <a:off x="211018" y="180711"/>
            <a:ext cx="10308072" cy="889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Interpreting Matrices A and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C9233B-5B93-054E-149A-2D66ED03D277}"/>
                  </a:ext>
                </a:extLst>
              </p:cNvPr>
              <p:cNvSpPr txBox="1"/>
              <p:nvPr/>
            </p:nvSpPr>
            <p:spPr>
              <a:xfrm>
                <a:off x="6454852" y="5016302"/>
                <a:ext cx="77894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C9233B-5B93-054E-149A-2D66ED03D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852" y="5016302"/>
                <a:ext cx="778949" cy="6155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9A4362-F4F0-5B71-549A-1D26C4E5573A}"/>
                  </a:ext>
                </a:extLst>
              </p:cNvPr>
              <p:cNvSpPr txBox="1"/>
              <p:nvPr/>
            </p:nvSpPr>
            <p:spPr>
              <a:xfrm>
                <a:off x="10026492" y="4985697"/>
                <a:ext cx="8384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9A4362-F4F0-5B71-549A-1D26C4E55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492" y="4985697"/>
                <a:ext cx="838415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C33750-A72F-63E1-82F7-DE18F1F049EF}"/>
              </a:ext>
            </a:extLst>
          </p:cNvPr>
          <p:cNvSpPr txBox="1"/>
          <p:nvPr/>
        </p:nvSpPr>
        <p:spPr>
          <a:xfrm>
            <a:off x="327756" y="1441247"/>
            <a:ext cx="45290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A</a:t>
            </a:r>
            <a:r>
              <a:rPr lang="en-US" dirty="0">
                <a:latin typeface="Helvetica" panose="020B0604020202020204" pitchFamily="2" charset="0"/>
              </a:rPr>
              <a:t> answers: </a:t>
            </a:r>
            <a:r>
              <a:rPr lang="en-US" i="1" dirty="0">
                <a:latin typeface="Helvetica" panose="020B0604020202020204" pitchFamily="2" charset="0"/>
              </a:rPr>
              <a:t>"Did high employment in state X last month predict high employment in state Y this month?"</a:t>
            </a:r>
            <a:r>
              <a:rPr lang="en-US" dirty="0">
                <a:latin typeface="Helvetica" panose="020B0604020202020204" pitchFamily="2" charset="0"/>
              </a:rPr>
              <a:t> - it captures </a:t>
            </a:r>
            <a:r>
              <a:rPr lang="en-US" b="1" dirty="0">
                <a:latin typeface="Helvetica" panose="020B0604020202020204" pitchFamily="2" charset="0"/>
              </a:rPr>
              <a:t>cross-state spillovers</a:t>
            </a: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answers: </a:t>
            </a:r>
            <a:r>
              <a:rPr lang="en-US" i="1" dirty="0">
                <a:latin typeface="Helvetica" panose="020B0604020202020204" pitchFamily="2" charset="0"/>
              </a:rPr>
              <a:t>"Did high employment in sector X last month predict high employment in sector Y this month?"</a:t>
            </a:r>
            <a:r>
              <a:rPr lang="en-US" dirty="0">
                <a:latin typeface="Helvetica" panose="020B0604020202020204" pitchFamily="2" charset="0"/>
              </a:rPr>
              <a:t> - it captures </a:t>
            </a:r>
            <a:r>
              <a:rPr lang="en-US" b="1" dirty="0">
                <a:latin typeface="Helvetica" panose="020B0604020202020204" pitchFamily="2" charset="0"/>
              </a:rPr>
              <a:t>cross-sector co-movement</a:t>
            </a: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A large </a:t>
            </a:r>
            <a:r>
              <a:rPr lang="en-US" b="1" dirty="0">
                <a:latin typeface="Helvetica" panose="020B0604020202020204" pitchFamily="2" charset="0"/>
              </a:rPr>
              <a:t>off-diagonal entry</a:t>
            </a:r>
            <a:r>
              <a:rPr lang="en-US" dirty="0">
                <a:latin typeface="Helvetica" panose="020B0604020202020204" pitchFamily="2" charset="0"/>
              </a:rPr>
              <a:t> in A or B means two states (or sectors) strongly influence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2" charset="0"/>
              </a:rPr>
              <a:t>A near-</a:t>
            </a:r>
            <a:r>
              <a:rPr lang="en-US" b="1" dirty="0">
                <a:latin typeface="Helvetica" panose="020B0604020202020204" pitchFamily="2" charset="0"/>
              </a:rPr>
              <a:t>diagonal</a:t>
            </a:r>
            <a:r>
              <a:rPr lang="en-US" dirty="0">
                <a:latin typeface="Helvetica" panose="020B0604020202020204" pitchFamily="2" charset="0"/>
              </a:rPr>
              <a:t> matrix means each state/sector mostly evolves on its own</a:t>
            </a:r>
          </a:p>
          <a:p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75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B215-F4FF-7E1A-B7B7-37BC3CE0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F9479C-2E22-7754-5FDB-19D5D28E6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ADB211-3F72-1BE8-4364-E34BEBB32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271" y="69030"/>
            <a:ext cx="7757585" cy="171864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Estimation of A and B:</a:t>
            </a:r>
            <a:b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</a:br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3 main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75348F-D164-1F4D-56CE-B626554328C3}"/>
                  </a:ext>
                </a:extLst>
              </p:cNvPr>
              <p:cNvSpPr txBox="1"/>
              <p:nvPr/>
            </p:nvSpPr>
            <p:spPr>
              <a:xfrm>
                <a:off x="2661772" y="1910272"/>
                <a:ext cx="6868455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anose="020B0604020202020204" pitchFamily="2" charset="0"/>
                  </a:rPr>
                  <a:t>Projection method (PROJ):</a:t>
                </a:r>
                <a:r>
                  <a:rPr lang="en-US" sz="2000" dirty="0">
                    <a:latin typeface="Helvetica" panose="020B0604020202020204" pitchFamily="2" charset="0"/>
                  </a:rPr>
                  <a:t> Estimate the full VAR first, then project it onto the Kronecker-product form. It is </a:t>
                </a:r>
                <a:r>
                  <a:rPr lang="en-US" sz="2000" b="1" dirty="0">
                    <a:latin typeface="Helvetica" panose="020B0604020202020204" pitchFamily="2" charset="0"/>
                  </a:rPr>
                  <a:t>easy to understand</a:t>
                </a:r>
                <a:r>
                  <a:rPr lang="en-US" sz="2000" dirty="0">
                    <a:latin typeface="Helvetica" panose="020B0604020202020204" pitchFamily="2" charset="0"/>
                  </a:rPr>
                  <a:t> and has a closed-form SVD step, but it is usually </a:t>
                </a:r>
                <a:r>
                  <a:rPr lang="en-US" sz="2000" b="1" dirty="0">
                    <a:latin typeface="Helvetica" panose="020B0604020202020204" pitchFamily="2" charset="0"/>
                  </a:rPr>
                  <a:t>less accurate</a:t>
                </a:r>
                <a:r>
                  <a:rPr lang="en-US" sz="2000" dirty="0">
                    <a:latin typeface="Helvetica" panose="020B0604020202020204" pitchFamily="2" charset="0"/>
                  </a:rPr>
                  <a:t>.</a:t>
                </a:r>
              </a:p>
              <a:p>
                <a:endParaRPr lang="en-US" sz="2000" dirty="0">
                  <a:latin typeface="Helvetica" panose="020B06040202020202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anose="020B0604020202020204" pitchFamily="2" charset="0"/>
                  </a:rPr>
                  <a:t>Iterated least squares (LSE):</a:t>
                </a:r>
                <a:r>
                  <a:rPr lang="en-US" sz="2000" dirty="0">
                    <a:latin typeface="Helvetica" panose="020B0604020202020204" pitchFamily="2" charset="0"/>
                  </a:rPr>
                  <a:t> Estimate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Helvetica" panose="020B0604020202020204" pitchFamily="2" charset="0"/>
                  </a:rPr>
                  <a:t> and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Helvetica" panose="020B0604020202020204" pitchFamily="2" charset="0"/>
                  </a:rPr>
                  <a:t> directly by minimizing the MAR fitting error. It is more </a:t>
                </a:r>
                <a:r>
                  <a:rPr lang="en-US" sz="2000" b="1" dirty="0">
                    <a:latin typeface="Helvetica" panose="020B0604020202020204" pitchFamily="2" charset="0"/>
                  </a:rPr>
                  <a:t>natural for the model</a:t>
                </a:r>
                <a:r>
                  <a:rPr lang="en-US" sz="2000" dirty="0">
                    <a:latin typeface="Helvetica" panose="020B0604020202020204" pitchFamily="2" charset="0"/>
                  </a:rPr>
                  <a:t> and usually performs </a:t>
                </a:r>
                <a:r>
                  <a:rPr lang="en-US" sz="2000" b="1" dirty="0">
                    <a:latin typeface="Helvetica" panose="020B0604020202020204" pitchFamily="2" charset="0"/>
                  </a:rPr>
                  <a:t>better than PROJ</a:t>
                </a:r>
                <a:r>
                  <a:rPr lang="en-US" sz="2000" dirty="0">
                    <a:latin typeface="Helvetica" panose="020B0604020202020204" pitchFamily="2" charset="0"/>
                  </a:rPr>
                  <a:t>, but it requires an </a:t>
                </a:r>
                <a:r>
                  <a:rPr lang="en-US" sz="2000" b="1" dirty="0">
                    <a:latin typeface="Helvetica" panose="020B0604020202020204" pitchFamily="2" charset="0"/>
                  </a:rPr>
                  <a:t>iterative algorithm</a:t>
                </a:r>
                <a:r>
                  <a:rPr lang="en-US" sz="2000" dirty="0">
                    <a:latin typeface="Helvetica" panose="020B0604020202020204" pitchFamily="2" charset="0"/>
                  </a:rPr>
                  <a:t>.</a:t>
                </a:r>
              </a:p>
              <a:p>
                <a:endParaRPr lang="en-US" sz="2000" dirty="0">
                  <a:latin typeface="Helvetica" panose="020B06040202020202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anose="020B0604020202020204" pitchFamily="2" charset="0"/>
                  </a:rPr>
                  <a:t>MLE with structured covariance (MLEs):</a:t>
                </a:r>
                <a:r>
                  <a:rPr lang="en-US" sz="2000" dirty="0">
                    <a:latin typeface="Helvetica" panose="020B0604020202020204" pitchFamily="2" charset="0"/>
                  </a:rPr>
                  <a:t> Jointly estimate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Helvetica" panose="020B0604020202020204" pitchFamily="2" charset="0"/>
                  </a:rPr>
                  <a:t>,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Helvetica" panose="020B0604020202020204" pitchFamily="2" charset="0"/>
                  </a:rPr>
                  <a:t>, and the row/column covariance structure. It is the most </a:t>
                </a:r>
                <a:r>
                  <a:rPr lang="en-US" sz="2000" b="1" dirty="0">
                    <a:latin typeface="Helvetica" panose="020B0604020202020204" pitchFamily="2" charset="0"/>
                  </a:rPr>
                  <a:t>statistically efficient</a:t>
                </a:r>
                <a:r>
                  <a:rPr lang="en-US" sz="2000" dirty="0">
                    <a:latin typeface="Helvetica" panose="020B0604020202020204" pitchFamily="2" charset="0"/>
                  </a:rPr>
                  <a:t> when that covariance assumption is correct, but also the most </a:t>
                </a:r>
                <a:r>
                  <a:rPr lang="en-US" sz="2000" b="1" dirty="0">
                    <a:latin typeface="Helvetica" panose="020B0604020202020204" pitchFamily="2" charset="0"/>
                  </a:rPr>
                  <a:t>complex</a:t>
                </a:r>
                <a:r>
                  <a:rPr lang="en-US" sz="2000" dirty="0">
                    <a:latin typeface="Helvetica" panose="020B0604020202020204" pitchFamily="2" charset="0"/>
                  </a:rPr>
                  <a:t> method.</a:t>
                </a:r>
              </a:p>
              <a:p>
                <a:endParaRPr lang="en-US" sz="2000" dirty="0">
                  <a:latin typeface="Helvetica" panose="020B0604020202020204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75348F-D164-1F4D-56CE-B62655432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772" y="1910272"/>
                <a:ext cx="6868455" cy="5016758"/>
              </a:xfrm>
              <a:prstGeom prst="rect">
                <a:avLst/>
              </a:prstGeom>
              <a:blipFill>
                <a:blip r:embed="rId3"/>
                <a:stretch>
                  <a:fillRect l="-799" t="-486" r="-1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19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3337-EADF-F1F1-72FA-56525D406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8F823A-3715-E48C-287A-33D10D760209}"/>
              </a:ext>
            </a:extLst>
          </p:cNvPr>
          <p:cNvSpPr txBox="1">
            <a:spLocks/>
          </p:cNvSpPr>
          <p:nvPr/>
        </p:nvSpPr>
        <p:spPr>
          <a:xfrm>
            <a:off x="412747" y="180712"/>
            <a:ext cx="11055644" cy="866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Helvetica Bold" panose="00000500000000000000" pitchFamily="50" charset="0"/>
                <a:ea typeface="Helvetica Bold" panose="00000500000000000000" pitchFamily="50" charset="0"/>
              </a:rPr>
              <a:t>Estimation of A and B using LSE</a:t>
            </a:r>
            <a:endParaRPr lang="en-US" dirty="0">
              <a:latin typeface="Helvetica Bold" panose="00000500000000000000" pitchFamily="50" charset="0"/>
              <a:ea typeface="Helvetica Bold" panose="00000500000000000000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F1E3EB-B091-7CCA-3B39-BE75DCFD7BE2}"/>
                  </a:ext>
                </a:extLst>
              </p:cNvPr>
              <p:cNvSpPr txBox="1"/>
              <p:nvPr/>
            </p:nvSpPr>
            <p:spPr>
              <a:xfrm>
                <a:off x="587277" y="1217486"/>
                <a:ext cx="499684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latin typeface="Helvetica" panose="020B0604020202020204" pitchFamily="2" charset="0"/>
                  </a:rPr>
                  <a:t>Overall Goal: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br>
                  <a:rPr lang="en-US" sz="2800" b="1" dirty="0">
                    <a:latin typeface="Helvetica" panose="020B0604020202020204" pitchFamily="2" charset="0"/>
                  </a:rPr>
                </a:br>
                <a:br>
                  <a:rPr lang="en-US" sz="2800" b="1" dirty="0">
                    <a:latin typeface="Helvetica" panose="020B0604020202020204" pitchFamily="2" charset="0"/>
                  </a:rPr>
                </a:br>
                <a:endParaRPr lang="en-US" sz="2800" b="1" dirty="0">
                  <a:latin typeface="Helvetica" panose="020B0604020202020204" pitchFamily="2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F1E3EB-B091-7CCA-3B39-BE75DCFD7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7" y="1217486"/>
                <a:ext cx="4996845" cy="1384995"/>
              </a:xfrm>
              <a:prstGeom prst="rect">
                <a:avLst/>
              </a:prstGeom>
              <a:blipFill>
                <a:blip r:embed="rId13"/>
                <a:stretch>
                  <a:fillRect l="-2439" t="-4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1BB434C-5499-F331-EEDB-ABB33F0624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8348" y="3378232"/>
            <a:ext cx="2613871" cy="2480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5FF539-9A49-74B2-E1C5-AE60128FA8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132" y="3382265"/>
            <a:ext cx="2609621" cy="2476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9BFC0F-0E40-CEBE-B433-43721B748C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062" y="3289361"/>
            <a:ext cx="2569382" cy="25693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A6ADF5-EB34-7657-E69D-B72824C8B8E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910" y="3382265"/>
            <a:ext cx="2609621" cy="2476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68DECA-42D9-CC4F-2A1B-51AF9293EDAC}"/>
              </a:ext>
            </a:extLst>
          </p:cNvPr>
          <p:cNvSpPr txBox="1"/>
          <p:nvPr/>
        </p:nvSpPr>
        <p:spPr>
          <a:xfrm>
            <a:off x="7045715" y="4173728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1F2B94-8679-D8F4-3411-2BDF9ED6F31E}"/>
              </a:ext>
            </a:extLst>
          </p:cNvPr>
          <p:cNvSpPr txBox="1"/>
          <p:nvPr/>
        </p:nvSpPr>
        <p:spPr>
          <a:xfrm>
            <a:off x="9452298" y="4127862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9739FD-D1E1-1C26-74C6-F7F9860CA259}"/>
                  </a:ext>
                </a:extLst>
              </p:cNvPr>
              <p:cNvSpPr txBox="1"/>
              <p:nvPr/>
            </p:nvSpPr>
            <p:spPr>
              <a:xfrm>
                <a:off x="725168" y="5637524"/>
                <a:ext cx="10954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9739FD-D1E1-1C26-74C6-F7F9860CA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68" y="5637524"/>
                <a:ext cx="1095427" cy="61555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887679-58D3-5CA7-E554-F05E3D91F746}"/>
                  </a:ext>
                </a:extLst>
              </p:cNvPr>
              <p:cNvSpPr txBox="1"/>
              <p:nvPr/>
            </p:nvSpPr>
            <p:spPr>
              <a:xfrm>
                <a:off x="5584122" y="5640514"/>
                <a:ext cx="128514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887679-58D3-5CA7-E554-F05E3D91F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4122" y="5640514"/>
                <a:ext cx="1285144" cy="61555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3E68F4-F52E-27F8-0926-29005D1D7313}"/>
                  </a:ext>
                </a:extLst>
              </p:cNvPr>
              <p:cNvSpPr txBox="1"/>
              <p:nvPr/>
            </p:nvSpPr>
            <p:spPr>
              <a:xfrm>
                <a:off x="8100964" y="5666565"/>
                <a:ext cx="8384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3E68F4-F52E-27F8-0926-29005D1D7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964" y="5666565"/>
                <a:ext cx="838415" cy="615553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CC8BD1-EE02-BFA7-D713-E026F877D29F}"/>
                  </a:ext>
                </a:extLst>
              </p:cNvPr>
              <p:cNvSpPr txBox="1"/>
              <p:nvPr/>
            </p:nvSpPr>
            <p:spPr>
              <a:xfrm>
                <a:off x="10564495" y="5663303"/>
                <a:ext cx="8417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ACC8BD1-EE02-BFA7-D713-E026F877D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495" y="5663303"/>
                <a:ext cx="841771" cy="61555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94658D8-8534-27BA-88CF-48302BCEB27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523" y="3289361"/>
            <a:ext cx="2569382" cy="25693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9F4E0FA-4254-22E8-4C67-51ADEAD767C9}"/>
              </a:ext>
            </a:extLst>
          </p:cNvPr>
          <p:cNvSpPr txBox="1"/>
          <p:nvPr/>
        </p:nvSpPr>
        <p:spPr>
          <a:xfrm>
            <a:off x="4639132" y="4173728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E8C8A-7BD1-8788-BB3E-CE2F1201B2AA}"/>
              </a:ext>
            </a:extLst>
          </p:cNvPr>
          <p:cNvSpPr txBox="1"/>
          <p:nvPr/>
        </p:nvSpPr>
        <p:spPr>
          <a:xfrm>
            <a:off x="2152273" y="4127862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423A2B-434F-5DD0-5873-55F1A45CF182}"/>
                  </a:ext>
                </a:extLst>
              </p:cNvPr>
              <p:cNvSpPr txBox="1"/>
              <p:nvPr/>
            </p:nvSpPr>
            <p:spPr>
              <a:xfrm>
                <a:off x="3218597" y="5663304"/>
                <a:ext cx="77894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423A2B-434F-5DD0-5873-55F1A45CF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597" y="5663304"/>
                <a:ext cx="778949" cy="61555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012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9A9EC-EE8F-80B1-15FE-787C2CC3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C70E6C-6098-380E-B3B1-8C27046E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E520C6-39A7-6205-0A4B-A7EB64C8B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7599"/>
            <a:ext cx="2421564" cy="2274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118876-4029-97C7-A16C-E84F55F10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596" y="3401688"/>
            <a:ext cx="2421564" cy="2274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424FBE-6EF2-3DE6-123F-C6213BE1D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63" y="3305615"/>
            <a:ext cx="2466501" cy="2466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D9CD6E-5D32-96F0-0DAA-D5258A3ABD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790" y="3209543"/>
            <a:ext cx="2466501" cy="2466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45DADC-8DE7-3E53-5E01-724DC0B1E8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40" y="3342521"/>
            <a:ext cx="2484560" cy="23335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F9018D-3378-9053-A4E2-945CB48E3A03}"/>
              </a:ext>
            </a:extLst>
          </p:cNvPr>
          <p:cNvSpPr txBox="1"/>
          <p:nvPr/>
        </p:nvSpPr>
        <p:spPr>
          <a:xfrm>
            <a:off x="7247262" y="4088850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1A9C88-D5EC-DADE-3634-DDFA164059CE}"/>
              </a:ext>
            </a:extLst>
          </p:cNvPr>
          <p:cNvSpPr txBox="1"/>
          <p:nvPr/>
        </p:nvSpPr>
        <p:spPr>
          <a:xfrm>
            <a:off x="4708884" y="4088850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6EA77B-7FCD-896A-5FDE-9E5F4A0EC92D}"/>
              </a:ext>
            </a:extLst>
          </p:cNvPr>
          <p:cNvSpPr txBox="1"/>
          <p:nvPr/>
        </p:nvSpPr>
        <p:spPr>
          <a:xfrm>
            <a:off x="2232870" y="412336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88A42-BCAA-0C23-2A2C-E060B2DDF0CA}"/>
              </a:ext>
            </a:extLst>
          </p:cNvPr>
          <p:cNvSpPr txBox="1"/>
          <p:nvPr/>
        </p:nvSpPr>
        <p:spPr>
          <a:xfrm>
            <a:off x="9631461" y="406320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28E992-2FAB-271B-3638-228901FE7111}"/>
                  </a:ext>
                </a:extLst>
              </p:cNvPr>
              <p:cNvSpPr txBox="1"/>
              <p:nvPr/>
            </p:nvSpPr>
            <p:spPr>
              <a:xfrm>
                <a:off x="847337" y="5523712"/>
                <a:ext cx="10954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28E992-2FAB-271B-3638-228901FE7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37" y="5523712"/>
                <a:ext cx="1095427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75AA98-C2F5-49F1-30CB-0E9A469374D7}"/>
                  </a:ext>
                </a:extLst>
              </p:cNvPr>
              <p:cNvSpPr txBox="1"/>
              <p:nvPr/>
            </p:nvSpPr>
            <p:spPr>
              <a:xfrm>
                <a:off x="3270897" y="5487801"/>
                <a:ext cx="77894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B75AA98-C2F5-49F1-30CB-0E9A46937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897" y="5487801"/>
                <a:ext cx="778949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658CD7-0527-AF65-4251-FACBB82990C7}"/>
                  </a:ext>
                </a:extLst>
              </p:cNvPr>
              <p:cNvSpPr txBox="1"/>
              <p:nvPr/>
            </p:nvSpPr>
            <p:spPr>
              <a:xfrm>
                <a:off x="5693398" y="5487801"/>
                <a:ext cx="128514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658CD7-0527-AF65-4251-FACBB8299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98" y="5487801"/>
                <a:ext cx="1285144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470986-DB57-9737-1241-D69D56D1FDCA}"/>
                  </a:ext>
                </a:extLst>
              </p:cNvPr>
              <p:cNvSpPr txBox="1"/>
              <p:nvPr/>
            </p:nvSpPr>
            <p:spPr>
              <a:xfrm>
                <a:off x="8421304" y="5473192"/>
                <a:ext cx="8384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A470986-DB57-9737-1241-D69D56D1F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304" y="5473192"/>
                <a:ext cx="838415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FC1E78-AA44-7D5C-2EA3-AD4FE6878881}"/>
                  </a:ext>
                </a:extLst>
              </p:cNvPr>
              <p:cNvSpPr txBox="1"/>
              <p:nvPr/>
            </p:nvSpPr>
            <p:spPr>
              <a:xfrm>
                <a:off x="10702481" y="5457721"/>
                <a:ext cx="8417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FC1E78-AA44-7D5C-2EA3-AD4FE6878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481" y="5457721"/>
                <a:ext cx="841771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4ABC2F68-0DAA-0415-47FD-C6C1BFA0F828}"/>
              </a:ext>
            </a:extLst>
          </p:cNvPr>
          <p:cNvSpPr txBox="1">
            <a:spLocks/>
          </p:cNvSpPr>
          <p:nvPr/>
        </p:nvSpPr>
        <p:spPr>
          <a:xfrm>
            <a:off x="412747" y="180712"/>
            <a:ext cx="11055644" cy="866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Helvetica Bold" panose="00000500000000000000" pitchFamily="50" charset="0"/>
                <a:ea typeface="Helvetica Bold" panose="00000500000000000000" pitchFamily="50" charset="0"/>
              </a:rPr>
              <a:t>Estimation of A and B using LSE</a:t>
            </a:r>
            <a:endParaRPr lang="en-US" dirty="0">
              <a:latin typeface="Helvetica Bold" panose="00000500000000000000" pitchFamily="50" charset="0"/>
              <a:ea typeface="Helvetica Bold" panose="00000500000000000000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A97B9-4166-38AB-E30E-B9DDFED43DAB}"/>
              </a:ext>
            </a:extLst>
          </p:cNvPr>
          <p:cNvSpPr txBox="1"/>
          <p:nvPr/>
        </p:nvSpPr>
        <p:spPr>
          <a:xfrm>
            <a:off x="587278" y="1891357"/>
            <a:ext cx="5045227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Helvetica" panose="020B0604020202020204" pitchFamily="2" charset="0"/>
              </a:rPr>
              <a:t>Step 1. Choose some specific matrix A and fix it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Step 2. Calculate matrix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B76D25-EDF8-C10E-3025-276C6AFB3C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2666103" y="3589807"/>
            <a:ext cx="2004792" cy="2466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CBD763-5BFC-B523-B5E2-48E3C4057502}"/>
                  </a:ext>
                </a:extLst>
              </p:cNvPr>
              <p:cNvSpPr txBox="1"/>
              <p:nvPr/>
            </p:nvSpPr>
            <p:spPr>
              <a:xfrm>
                <a:off x="587278" y="1202437"/>
                <a:ext cx="44971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Helvetica" panose="020B0604020202020204" pitchFamily="2" charset="0"/>
                  </a:rPr>
                  <a:t>Overall Goal: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CBD763-5BFC-B523-B5E2-48E3C4057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8" y="1202437"/>
                <a:ext cx="4497193" cy="523220"/>
              </a:xfrm>
              <a:prstGeom prst="rect">
                <a:avLst/>
              </a:prstGeom>
              <a:blipFill>
                <a:blip r:embed="rId13"/>
                <a:stretch>
                  <a:fillRect l="-2710" t="-13953" b="-2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788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C0C1-134F-9D04-6F4A-B4845E19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F4EAA2-9427-C035-AE55-EE4FD0F73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18C3DE-3501-2D76-2BC3-8B70458D7A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7599"/>
            <a:ext cx="2421564" cy="2274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226585-22F0-057E-B294-474D1BF98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596" y="3401688"/>
            <a:ext cx="2421564" cy="2274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F979D3-6B3B-B05A-652C-8C6D5F38C6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63" y="3305615"/>
            <a:ext cx="2466501" cy="2466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337930-7B5A-0A16-0D40-15CFAB4279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790" y="3209543"/>
            <a:ext cx="2466501" cy="2466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27BCD3-9849-CBAD-5E52-18E4F1B412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40" y="3342521"/>
            <a:ext cx="2484560" cy="23335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794A4C-6F5E-6E59-4C5E-157100569891}"/>
              </a:ext>
            </a:extLst>
          </p:cNvPr>
          <p:cNvSpPr txBox="1"/>
          <p:nvPr/>
        </p:nvSpPr>
        <p:spPr>
          <a:xfrm>
            <a:off x="7247262" y="4088850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DE017D-9348-B987-7D30-D25E507A3A1E}"/>
              </a:ext>
            </a:extLst>
          </p:cNvPr>
          <p:cNvSpPr txBox="1"/>
          <p:nvPr/>
        </p:nvSpPr>
        <p:spPr>
          <a:xfrm>
            <a:off x="4708884" y="4088850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13998F-5824-A257-E0AF-D9071CBA1251}"/>
              </a:ext>
            </a:extLst>
          </p:cNvPr>
          <p:cNvSpPr txBox="1"/>
          <p:nvPr/>
        </p:nvSpPr>
        <p:spPr>
          <a:xfrm>
            <a:off x="2232870" y="412336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D5F49-23ED-CA92-A937-070DBD798AF1}"/>
              </a:ext>
            </a:extLst>
          </p:cNvPr>
          <p:cNvSpPr txBox="1"/>
          <p:nvPr/>
        </p:nvSpPr>
        <p:spPr>
          <a:xfrm>
            <a:off x="9631461" y="406320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07ADFD-C445-2F6A-444B-6F27DA099B21}"/>
                  </a:ext>
                </a:extLst>
              </p:cNvPr>
              <p:cNvSpPr txBox="1"/>
              <p:nvPr/>
            </p:nvSpPr>
            <p:spPr>
              <a:xfrm>
                <a:off x="847337" y="5523712"/>
                <a:ext cx="10954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607ADFD-C445-2F6A-444B-6F27DA099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37" y="5523712"/>
                <a:ext cx="1095427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F0FF3A-885E-2FA7-8A6B-F12E23B4F58C}"/>
                  </a:ext>
                </a:extLst>
              </p:cNvPr>
              <p:cNvSpPr txBox="1"/>
              <p:nvPr/>
            </p:nvSpPr>
            <p:spPr>
              <a:xfrm>
                <a:off x="3270897" y="5487801"/>
                <a:ext cx="77894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2F0FF3A-885E-2FA7-8A6B-F12E23B4F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897" y="5487801"/>
                <a:ext cx="778949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8B07DA-8A71-543A-34A1-9DF4C28FDB01}"/>
                  </a:ext>
                </a:extLst>
              </p:cNvPr>
              <p:cNvSpPr txBox="1"/>
              <p:nvPr/>
            </p:nvSpPr>
            <p:spPr>
              <a:xfrm>
                <a:off x="5693398" y="5487801"/>
                <a:ext cx="128514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8B07DA-8A71-543A-34A1-9DF4C28FD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98" y="5487801"/>
                <a:ext cx="1285144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6EEC70-2B82-CD87-3729-AD2CCE3EEF69}"/>
                  </a:ext>
                </a:extLst>
              </p:cNvPr>
              <p:cNvSpPr txBox="1"/>
              <p:nvPr/>
            </p:nvSpPr>
            <p:spPr>
              <a:xfrm>
                <a:off x="8421304" y="5473192"/>
                <a:ext cx="8384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6EEC70-2B82-CD87-3729-AD2CCE3EE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304" y="5473192"/>
                <a:ext cx="838415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E9DA24-504B-1E6E-2352-7F16C17725F2}"/>
                  </a:ext>
                </a:extLst>
              </p:cNvPr>
              <p:cNvSpPr txBox="1"/>
              <p:nvPr/>
            </p:nvSpPr>
            <p:spPr>
              <a:xfrm>
                <a:off x="10702481" y="5457721"/>
                <a:ext cx="8417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E9DA24-504B-1E6E-2352-7F16C1772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481" y="5457721"/>
                <a:ext cx="841771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45C8E2E-BEE0-E1E7-008A-A27BF382884C}"/>
              </a:ext>
            </a:extLst>
          </p:cNvPr>
          <p:cNvSpPr txBox="1">
            <a:spLocks/>
          </p:cNvSpPr>
          <p:nvPr/>
        </p:nvSpPr>
        <p:spPr>
          <a:xfrm>
            <a:off x="412747" y="180712"/>
            <a:ext cx="11055644" cy="866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Helvetica Bold" panose="00000500000000000000" pitchFamily="50" charset="0"/>
                <a:ea typeface="Helvetica Bold" panose="00000500000000000000" pitchFamily="50" charset="0"/>
              </a:rPr>
              <a:t>Estimation of A and B using LSE</a:t>
            </a:r>
            <a:endParaRPr lang="en-US" dirty="0">
              <a:latin typeface="Helvetica Bold" panose="00000500000000000000" pitchFamily="50" charset="0"/>
              <a:ea typeface="Helvetica Bold" panose="00000500000000000000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0805C2-63AC-BA6E-381B-61E1F82073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7702648" y="3470686"/>
            <a:ext cx="2004792" cy="26025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82924A-64B7-E731-D847-38B0CE2E37FD}"/>
              </a:ext>
            </a:extLst>
          </p:cNvPr>
          <p:cNvSpPr txBox="1"/>
          <p:nvPr/>
        </p:nvSpPr>
        <p:spPr>
          <a:xfrm>
            <a:off x="587278" y="1891357"/>
            <a:ext cx="3083023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Helvetica" panose="020B0604020202020204" pitchFamily="2" charset="0"/>
              </a:rPr>
              <a:t>Step 3. Fix matrix B</a:t>
            </a:r>
            <a:br>
              <a:rPr lang="en-US" dirty="0">
                <a:latin typeface="Helvetica" panose="020B0604020202020204" pitchFamily="2" charset="0"/>
              </a:rPr>
            </a:br>
            <a:r>
              <a:rPr lang="en-US" dirty="0">
                <a:latin typeface="Helvetica" panose="020B0604020202020204" pitchFamily="2" charset="0"/>
              </a:rPr>
              <a:t>Step 4. Recalculate matrix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1751E6-566E-3A62-1087-96CCD3042C3B}"/>
                  </a:ext>
                </a:extLst>
              </p:cNvPr>
              <p:cNvSpPr txBox="1"/>
              <p:nvPr/>
            </p:nvSpPr>
            <p:spPr>
              <a:xfrm>
                <a:off x="587278" y="1202437"/>
                <a:ext cx="44971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Helvetica" panose="020B0604020202020204" pitchFamily="2" charset="0"/>
                  </a:rPr>
                  <a:t>Overall Goal: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1751E6-566E-3A62-1087-96CCD3042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8" y="1202437"/>
                <a:ext cx="4497193" cy="523220"/>
              </a:xfrm>
              <a:prstGeom prst="rect">
                <a:avLst/>
              </a:prstGeom>
              <a:blipFill>
                <a:blip r:embed="rId13"/>
                <a:stretch>
                  <a:fillRect l="-2710" t="-13953" b="-2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29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D14B-4300-2A20-283A-D145FFA1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280B83-0458-4E59-38CE-707E529F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055DAA-5944-B821-4583-4C5282763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7599"/>
            <a:ext cx="2421564" cy="2274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AD9E9E-E413-3994-CB23-555BE69D5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596" y="3401688"/>
            <a:ext cx="2421564" cy="2274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0B0DDC-8D9F-C38B-B115-D41CB1C99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563" y="3305615"/>
            <a:ext cx="2466501" cy="2466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6ABAA4-44AC-F5F1-564B-0FF2715704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790" y="3209543"/>
            <a:ext cx="2466501" cy="24665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9C80B8-942D-A752-0E61-6EBF7473FF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40" y="3342521"/>
            <a:ext cx="2484560" cy="23335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CDDEEE-8B73-0A8A-7681-4162A2E820BC}"/>
              </a:ext>
            </a:extLst>
          </p:cNvPr>
          <p:cNvSpPr txBox="1"/>
          <p:nvPr/>
        </p:nvSpPr>
        <p:spPr>
          <a:xfrm>
            <a:off x="7247262" y="4088850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7CABAC-6AD9-8C92-A142-A2F74C9B670A}"/>
              </a:ext>
            </a:extLst>
          </p:cNvPr>
          <p:cNvSpPr txBox="1"/>
          <p:nvPr/>
        </p:nvSpPr>
        <p:spPr>
          <a:xfrm>
            <a:off x="4708884" y="4088850"/>
            <a:ext cx="5470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anose="020B0604020202020204" pitchFamily="2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164FFF-1D6D-C6C3-FF79-CE5BDC8D2F5A}"/>
              </a:ext>
            </a:extLst>
          </p:cNvPr>
          <p:cNvSpPr txBox="1"/>
          <p:nvPr/>
        </p:nvSpPr>
        <p:spPr>
          <a:xfrm>
            <a:off x="2232870" y="412336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41195-A5AF-C503-F731-136C319C41CF}"/>
              </a:ext>
            </a:extLst>
          </p:cNvPr>
          <p:cNvSpPr txBox="1"/>
          <p:nvPr/>
        </p:nvSpPr>
        <p:spPr>
          <a:xfrm>
            <a:off x="9631461" y="4063206"/>
            <a:ext cx="699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anose="020B0604020202020204" pitchFamily="2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CC15FD-B580-EB57-F63F-F7C3ECD85641}"/>
                  </a:ext>
                </a:extLst>
              </p:cNvPr>
              <p:cNvSpPr txBox="1"/>
              <p:nvPr/>
            </p:nvSpPr>
            <p:spPr>
              <a:xfrm>
                <a:off x="847337" y="5523712"/>
                <a:ext cx="1095427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CC15FD-B580-EB57-F63F-F7C3ECD8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37" y="5523712"/>
                <a:ext cx="1095427" cy="6155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B65E56-3202-B397-5A56-AC270650BA03}"/>
                  </a:ext>
                </a:extLst>
              </p:cNvPr>
              <p:cNvSpPr txBox="1"/>
              <p:nvPr/>
            </p:nvSpPr>
            <p:spPr>
              <a:xfrm>
                <a:off x="3270897" y="5487801"/>
                <a:ext cx="77894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1" i="1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B65E56-3202-B397-5A56-AC270650B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897" y="5487801"/>
                <a:ext cx="778949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BB90B1-F646-538F-7644-86A87B236724}"/>
                  </a:ext>
                </a:extLst>
              </p:cNvPr>
              <p:cNvSpPr txBox="1"/>
              <p:nvPr/>
            </p:nvSpPr>
            <p:spPr>
              <a:xfrm>
                <a:off x="5693398" y="5487801"/>
                <a:ext cx="1285144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BB90B1-F646-538F-7644-86A87B236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398" y="5487801"/>
                <a:ext cx="1285144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11B50B-422D-464F-F64E-8DC84E21AB5E}"/>
                  </a:ext>
                </a:extLst>
              </p:cNvPr>
              <p:cNvSpPr txBox="1"/>
              <p:nvPr/>
            </p:nvSpPr>
            <p:spPr>
              <a:xfrm>
                <a:off x="8421304" y="5473192"/>
                <a:ext cx="83841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611B50B-422D-464F-F64E-8DC84E21A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304" y="5473192"/>
                <a:ext cx="838415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7C4DF1-D34A-64F2-8D41-D574419B743C}"/>
                  </a:ext>
                </a:extLst>
              </p:cNvPr>
              <p:cNvSpPr txBox="1"/>
              <p:nvPr/>
            </p:nvSpPr>
            <p:spPr>
              <a:xfrm>
                <a:off x="10702481" y="5457721"/>
                <a:ext cx="841771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4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A7C4DF1-D34A-64F2-8D41-D574419B7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2481" y="5457721"/>
                <a:ext cx="841771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C008561E-BBC9-2C3E-F354-CA4244C3E2A9}"/>
              </a:ext>
            </a:extLst>
          </p:cNvPr>
          <p:cNvSpPr txBox="1">
            <a:spLocks/>
          </p:cNvSpPr>
          <p:nvPr/>
        </p:nvSpPr>
        <p:spPr>
          <a:xfrm>
            <a:off x="412747" y="180712"/>
            <a:ext cx="11055644" cy="866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Estimation of A and B using LSE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D855DC-F5A0-A9D3-F4A5-8DEE97F4220B}"/>
              </a:ext>
            </a:extLst>
          </p:cNvPr>
          <p:cNvSpPr txBox="1"/>
          <p:nvPr/>
        </p:nvSpPr>
        <p:spPr>
          <a:xfrm>
            <a:off x="587278" y="1891357"/>
            <a:ext cx="10674717" cy="456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Helvetica" panose="020B0604020202020204" pitchFamily="2" charset="0"/>
              </a:rPr>
              <a:t>Step 5: Repeat iterating until the change in the objective function falls below a convergence threshold 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DE1421-1625-E70A-CCC5-2A0DDCD6F008}"/>
                  </a:ext>
                </a:extLst>
              </p:cNvPr>
              <p:cNvSpPr txBox="1"/>
              <p:nvPr/>
            </p:nvSpPr>
            <p:spPr>
              <a:xfrm>
                <a:off x="587278" y="1202437"/>
                <a:ext cx="44971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Helvetica" panose="020B0604020202020204" pitchFamily="2" charset="0"/>
                  </a:rPr>
                  <a:t>Overall Goal: Minimize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DE1421-1625-E70A-CCC5-2A0DDCD6F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8" y="1202437"/>
                <a:ext cx="4497193" cy="523220"/>
              </a:xfrm>
              <a:prstGeom prst="rect">
                <a:avLst/>
              </a:prstGeom>
              <a:blipFill>
                <a:blip r:embed="rId13"/>
                <a:stretch>
                  <a:fillRect l="-2710" t="-13953" b="-2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2972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BAF0-CF8D-DECA-AB5E-126FFC95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0D5FFD-F8C2-F825-4641-B79578EDC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3151A4-33E7-91EE-39E8-DD48D35E5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90221" y="136311"/>
            <a:ext cx="9264652" cy="885244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What should we do?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73D19-A056-0071-7A7F-BBBE40F2DDC4}"/>
              </a:ext>
            </a:extLst>
          </p:cNvPr>
          <p:cNvSpPr txBox="1"/>
          <p:nvPr/>
        </p:nvSpPr>
        <p:spPr>
          <a:xfrm>
            <a:off x="1029702" y="1554509"/>
            <a:ext cx="597837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We estimate A and B using the </a:t>
            </a:r>
            <a:r>
              <a:rPr lang="en-US" sz="2000" b="1" dirty="0" err="1">
                <a:latin typeface="Helvetica" panose="020B0604020202020204" pitchFamily="2" charset="0"/>
              </a:rPr>
              <a:t>TensorTS</a:t>
            </a:r>
            <a:r>
              <a:rPr lang="en-US" sz="2000" dirty="0">
                <a:latin typeface="Helvetica" panose="020B0604020202020204" pitchFamily="2" charset="0"/>
              </a:rPr>
              <a:t> package in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Before fitting the model, data must be preprocessed into </a:t>
            </a:r>
            <a:r>
              <a:rPr lang="en-US" sz="2000" b="1" dirty="0">
                <a:latin typeface="Helvetica" panose="020B0604020202020204" pitchFamily="2" charset="0"/>
              </a:rPr>
              <a:t>3D tensor format</a:t>
            </a:r>
            <a:r>
              <a:rPr lang="en-US" sz="2000" dirty="0">
                <a:latin typeface="Helvetica" panose="020B0604020202020204" pitchFamily="2" charset="0"/>
              </a:rPr>
              <a:t> (sectors × states ×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Preprocessing steps: </a:t>
            </a:r>
            <a:r>
              <a:rPr lang="en-US" sz="2000" b="1" dirty="0">
                <a:latin typeface="Helvetica" panose="020B0604020202020204" pitchFamily="2" charset="0"/>
              </a:rPr>
              <a:t>First Differencing</a:t>
            </a:r>
            <a:r>
              <a:rPr lang="en-US" sz="2000" dirty="0">
                <a:latin typeface="Helvetica" panose="020B0604020202020204" pitchFamily="2" charset="0"/>
              </a:rPr>
              <a:t> (to achieve stationarity) and </a:t>
            </a:r>
            <a:r>
              <a:rPr lang="en-US" sz="2000" b="1" dirty="0">
                <a:latin typeface="Helvetica" panose="020B0604020202020204" pitchFamily="2" charset="0"/>
              </a:rPr>
              <a:t>ADF stability check</a:t>
            </a: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Note: the BLS data reports </a:t>
            </a:r>
            <a:r>
              <a:rPr lang="en-US" sz="2000" b="1" dirty="0">
                <a:latin typeface="Helvetica" panose="020B0604020202020204" pitchFamily="2" charset="0"/>
              </a:rPr>
              <a:t>employed persons</a:t>
            </a:r>
            <a:r>
              <a:rPr lang="en-US" sz="2000" dirty="0">
                <a:latin typeface="Helvetica" panose="020B0604020202020204" pitchFamily="2" charset="0"/>
              </a:rPr>
              <a:t>, not unemployment counts - first differences approximate month-over-month employment changes</a:t>
            </a:r>
            <a:br>
              <a:rPr lang="en-US" sz="2400" dirty="0">
                <a:latin typeface="Helvetica" panose="020B0604020202020204" pitchFamily="2" charset="0"/>
              </a:rPr>
            </a:br>
            <a:endParaRPr lang="en-US" sz="2400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47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1C71-9BEC-B418-B2CA-DA4137CC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B38D89-BCB4-5153-66AC-7C97FFD1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416CDA2-C7EB-2898-260D-C2ECBFEB4072}"/>
              </a:ext>
            </a:extLst>
          </p:cNvPr>
          <p:cNvSpPr txBox="1">
            <a:spLocks/>
          </p:cNvSpPr>
          <p:nvPr/>
        </p:nvSpPr>
        <p:spPr>
          <a:xfrm>
            <a:off x="561212" y="180712"/>
            <a:ext cx="7935515" cy="8393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Preprocessing our 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73684E-A202-509E-AFBA-B5DDE7C1BB4D}"/>
                  </a:ext>
                </a:extLst>
              </p:cNvPr>
              <p:cNvSpPr txBox="1"/>
              <p:nvPr/>
            </p:nvSpPr>
            <p:spPr>
              <a:xfrm>
                <a:off x="363887" y="1489780"/>
                <a:ext cx="390796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anose="020B0604020202020204" pitchFamily="2" charset="0"/>
                  </a:rPr>
                  <a:t>This is how our initial data looks like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>
                  <a:latin typeface="Helvetica" panose="020B06040202020202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anose="020B0604020202020204" pitchFamily="2" charset="0"/>
                  </a:rPr>
                  <a:t>Just by looking at it we can already say that it is non-stationary</a:t>
                </a:r>
              </a:p>
              <a:p>
                <a:endParaRPr lang="en-US" sz="2000" dirty="0">
                  <a:latin typeface="Helvetica" panose="020B06040202020202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anose="020B0604020202020204" pitchFamily="2" charset="0"/>
                  </a:rPr>
                  <a:t>Non-stationary data violates the stability conditions required by the MAR model</a:t>
                </a:r>
              </a:p>
              <a:p>
                <a:endParaRPr lang="en-US" sz="2000" dirty="0">
                  <a:latin typeface="Helvetica" panose="020B0604020202020204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anose="020B0604020202020204" pitchFamily="2" charset="0"/>
                  </a:rPr>
                  <a:t>We apply </a:t>
                </a:r>
                <a:r>
                  <a:rPr lang="en-US" sz="2000" b="1" dirty="0">
                    <a:latin typeface="Helvetica" panose="020B0604020202020204" pitchFamily="2" charset="0"/>
                  </a:rPr>
                  <a:t>First Differencing</a:t>
                </a:r>
                <a:r>
                  <a:rPr lang="en-US" sz="2000" dirty="0">
                    <a:latin typeface="Helvetica" panose="020B0604020202020204" pitchFamily="2" charset="0"/>
                  </a:rPr>
                  <a:t>: </a:t>
                </a:r>
                <a:br>
                  <a:rPr lang="en-US" sz="2000" dirty="0">
                    <a:latin typeface="Helvetica" panose="020B0604020202020204" pitchFamily="2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000" dirty="0">
                    <a:latin typeface="Helvetica" panose="020B0604020202020204" pitchFamily="2" charset="0"/>
                  </a:rPr>
                  <a:t> </a:t>
                </a:r>
                <a:br>
                  <a:rPr lang="en-US" sz="2000" dirty="0">
                    <a:latin typeface="Helvetica" panose="020B0604020202020204" pitchFamily="2" charset="0"/>
                  </a:rPr>
                </a:br>
                <a:r>
                  <a:rPr lang="en-US" sz="2000" dirty="0">
                    <a:latin typeface="Helvetica" panose="020B0604020202020204" pitchFamily="2" charset="0"/>
                  </a:rPr>
                  <a:t>to remove trends and approximate stationarity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73684E-A202-509E-AFBA-B5DDE7C1B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87" y="1489780"/>
                <a:ext cx="3907967" cy="4708981"/>
              </a:xfrm>
              <a:prstGeom prst="rect">
                <a:avLst/>
              </a:prstGeom>
              <a:blipFill>
                <a:blip r:embed="rId3"/>
                <a:stretch>
                  <a:fillRect l="-1404" t="-517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63D8505-606B-9DF9-1B5A-CA3337DFF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970" y="1293103"/>
            <a:ext cx="7002241" cy="529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80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BCA8-B598-FA38-86F2-DC1F3249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F65CAF-74C3-0085-AC93-EB67153A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975EF7-E4AA-9CF1-F97C-8C0EC8BF6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754" y="1297336"/>
            <a:ext cx="6961538" cy="54165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1B0BB8-44EF-41DE-3D15-4C145F3E8E32}"/>
              </a:ext>
            </a:extLst>
          </p:cNvPr>
          <p:cNvSpPr txBox="1"/>
          <p:nvPr/>
        </p:nvSpPr>
        <p:spPr>
          <a:xfrm>
            <a:off x="316894" y="1601462"/>
            <a:ext cx="390796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After first differencing, series fluctuate around zero with no visible trend - consistent with stationarity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Formal confirmation requires the </a:t>
            </a:r>
            <a:r>
              <a:rPr lang="en-US" sz="2000" b="1" dirty="0">
                <a:latin typeface="Helvetica" panose="020B0604020202020204" pitchFamily="2" charset="0"/>
              </a:rPr>
              <a:t>Augmented Dickey-Fuller (ADF) test</a:t>
            </a:r>
            <a:r>
              <a:rPr lang="en-US" sz="2000" dirty="0">
                <a:latin typeface="Helvetica" panose="020B0604020202020204" pitchFamily="2" charset="0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anose="020B0604020202020204" pitchFamily="2" charset="0"/>
              </a:rPr>
              <a:t>ADF null hypothesis: the series has a </a:t>
            </a:r>
            <a:r>
              <a:rPr lang="en-US" sz="2000" b="1" dirty="0">
                <a:latin typeface="Helvetica" panose="020B0604020202020204" pitchFamily="2" charset="0"/>
              </a:rPr>
              <a:t>unit root</a:t>
            </a:r>
            <a:r>
              <a:rPr lang="en-US" sz="2000" dirty="0">
                <a:latin typeface="Helvetica" panose="020B0604020202020204" pitchFamily="2" charset="0"/>
              </a:rPr>
              <a:t> (non-stationary); rejection confirms stationarity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Helvetica" panose="020B06040202020202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9A5C2-F428-69F8-2E7D-FCC652AF04C7}"/>
              </a:ext>
            </a:extLst>
          </p:cNvPr>
          <p:cNvSpPr txBox="1">
            <a:spLocks/>
          </p:cNvSpPr>
          <p:nvPr/>
        </p:nvSpPr>
        <p:spPr>
          <a:xfrm>
            <a:off x="561212" y="180712"/>
            <a:ext cx="7935515" cy="8393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Preprocessing our data </a:t>
            </a:r>
          </a:p>
        </p:txBody>
      </p:sp>
    </p:spTree>
    <p:extLst>
      <p:ext uri="{BB962C8B-B14F-4D97-AF65-F5344CB8AC3E}">
        <p14:creationId xmlns:p14="http://schemas.microsoft.com/office/powerpoint/2010/main" val="1563273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95DA-8B73-5BD8-1AEB-48DBED5C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0C1B3A-7BAB-7FB2-8E0C-473D6991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B2F93C-0569-3A17-1092-EDAED7A9CDE8}"/>
              </a:ext>
            </a:extLst>
          </p:cNvPr>
          <p:cNvSpPr txBox="1"/>
          <p:nvPr/>
        </p:nvSpPr>
        <p:spPr>
          <a:xfrm>
            <a:off x="3126810" y="6307955"/>
            <a:ext cx="278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Stability check using ADF</a:t>
            </a:r>
          </a:p>
        </p:txBody>
      </p:sp>
      <p:pic>
        <p:nvPicPr>
          <p:cNvPr id="5122" name="Picture 2" descr="The Augmented Dickey-Fuller Test, Demystified: A Practical Guide to  Stationarity | by Jack Ka-Chun, Yu | Data Science Collective | Medium">
            <a:extLst>
              <a:ext uri="{FF2B5EF4-FFF2-40B4-BE49-F238E27FC236}">
                <a16:creationId xmlns:a16="http://schemas.microsoft.com/office/drawing/2014/main" id="{063AD720-4D78-CF78-D8AA-4B8D99CF4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41" y="1382980"/>
            <a:ext cx="7344344" cy="489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3C2A23-E951-2B24-4DE0-DD5D69F053CD}"/>
              </a:ext>
            </a:extLst>
          </p:cNvPr>
          <p:cNvSpPr txBox="1"/>
          <p:nvPr/>
        </p:nvSpPr>
        <p:spPr>
          <a:xfrm>
            <a:off x="9214683" y="6307955"/>
            <a:ext cx="1569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anose="020B0604020202020204" pitchFamily="2" charset="0"/>
              </a:rPr>
              <a:t>R output ADF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206941-BE9D-8966-522B-086532E2A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393" y="1217860"/>
            <a:ext cx="3186266" cy="50598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961A2F5-8198-E1C3-F0A2-DD33B6BF1F37}"/>
              </a:ext>
            </a:extLst>
          </p:cNvPr>
          <p:cNvSpPr txBox="1">
            <a:spLocks/>
          </p:cNvSpPr>
          <p:nvPr/>
        </p:nvSpPr>
        <p:spPr>
          <a:xfrm>
            <a:off x="561212" y="180712"/>
            <a:ext cx="7935515" cy="8393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Preprocessing our data </a:t>
            </a:r>
          </a:p>
        </p:txBody>
      </p:sp>
    </p:spTree>
    <p:extLst>
      <p:ext uri="{BB962C8B-B14F-4D97-AF65-F5344CB8AC3E}">
        <p14:creationId xmlns:p14="http://schemas.microsoft.com/office/powerpoint/2010/main" val="2183809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0C76-BEC9-DA92-BFE5-BCC9056E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AAC9BE-49E8-BACA-A494-5A2EA57D6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E5EE01-5ADC-B0E0-3573-37F73ECCD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469" y="0"/>
            <a:ext cx="10162183" cy="102155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Results for A and B using LSE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6E7A45-009D-CD56-0A7A-5948EBDD7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61" y="1751986"/>
            <a:ext cx="5029210" cy="41148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3B333D-A4FB-F3A4-B586-1A5F3FE36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942" y="1751986"/>
            <a:ext cx="5029210" cy="41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54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E16AA-9B34-15CB-43B5-54DD9EF63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E31752F-BB89-96B3-1769-F8313B76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82652E-A747-8324-6290-20ABD0CCB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872" y="0"/>
            <a:ext cx="5564719" cy="102155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Helvetica Bold" panose="00000500000000000000" pitchFamily="50" charset="0"/>
                <a:ea typeface="Helvetica Bold" panose="00000500000000000000" pitchFamily="50" charset="0"/>
              </a:rPr>
              <a:t>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C562A-8FC7-B675-2EBA-4354F953DC6E}"/>
              </a:ext>
            </a:extLst>
          </p:cNvPr>
          <p:cNvSpPr txBox="1"/>
          <p:nvPr/>
        </p:nvSpPr>
        <p:spPr>
          <a:xfrm>
            <a:off x="964658" y="1225689"/>
            <a:ext cx="1026268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Eigenvalue check</a:t>
            </a:r>
            <a:r>
              <a:rPr lang="en-US" dirty="0">
                <a:latin typeface="Helvetica" panose="020B0604020202020204" pitchFamily="2" charset="0"/>
              </a:rPr>
              <a:t> - verify that the spectral radius of </a:t>
            </a:r>
            <a:r>
              <a:rPr lang="en-US" b="1" dirty="0">
                <a:latin typeface="Helvetica" panose="020B0604020202020204" pitchFamily="2" charset="0"/>
              </a:rPr>
              <a:t>A</a:t>
            </a:r>
            <a:r>
              <a:rPr lang="en-US" dirty="0">
                <a:latin typeface="Helvetica" panose="020B0604020202020204" pitchFamily="2" charset="0"/>
              </a:rPr>
              <a:t> ⊗ </a:t>
            </a: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is less than 1, confirming the model is stable and stationary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Residual check</a:t>
            </a:r>
            <a:r>
              <a:rPr lang="en-US" dirty="0">
                <a:latin typeface="Helvetica" panose="020B0604020202020204" pitchFamily="2" charset="0"/>
              </a:rPr>
              <a:t> - inspect residual matrices for autocorrelation to confirm the model captures the dynamics adequately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Compare 3 estimation methods</a:t>
            </a:r>
            <a:r>
              <a:rPr lang="en-US" dirty="0">
                <a:latin typeface="Helvetica" panose="020B0604020202020204" pitchFamily="2" charset="0"/>
              </a:rPr>
              <a:t> - run PROJ, LSE, and MLEs on our data and compare the estimated </a:t>
            </a:r>
            <a:r>
              <a:rPr lang="en-US" b="1" dirty="0">
                <a:latin typeface="Helvetica" panose="020B0604020202020204" pitchFamily="2" charset="0"/>
              </a:rPr>
              <a:t>A</a:t>
            </a:r>
            <a:r>
              <a:rPr lang="en-US" dirty="0">
                <a:latin typeface="Helvetica" panose="020B0604020202020204" pitchFamily="2" charset="0"/>
              </a:rPr>
              <a:t> and </a:t>
            </a: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matrices across methods to see how sensitive results are to the choice of estimator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Economic interpretation</a:t>
            </a:r>
            <a:r>
              <a:rPr lang="en-US" dirty="0">
                <a:latin typeface="Helvetica" panose="020B0604020202020204" pitchFamily="2" charset="0"/>
              </a:rPr>
              <a:t> - interpret the off-diagonal entries of </a:t>
            </a:r>
            <a:r>
              <a:rPr lang="en-US" b="1" dirty="0">
                <a:latin typeface="Helvetica" panose="020B0604020202020204" pitchFamily="2" charset="0"/>
              </a:rPr>
              <a:t>A</a:t>
            </a:r>
            <a:r>
              <a:rPr lang="en-US" dirty="0">
                <a:latin typeface="Helvetica" panose="020B0604020202020204" pitchFamily="2" charset="0"/>
              </a:rPr>
              <a:t> and </a:t>
            </a:r>
            <a:r>
              <a:rPr lang="en-US" b="1" dirty="0">
                <a:latin typeface="Helvetica" panose="020B0604020202020204" pitchFamily="2" charset="0"/>
              </a:rPr>
              <a:t>B</a:t>
            </a:r>
            <a:r>
              <a:rPr lang="en-US" dirty="0">
                <a:latin typeface="Helvetica" panose="020B0604020202020204" pitchFamily="2" charset="0"/>
              </a:rPr>
              <a:t> to identify which states and sectors most strongly influence each other (e.g., does a drop in Illinois manufacturing spill over into Ohio?)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Extend to MAR(p)</a:t>
            </a:r>
            <a:r>
              <a:rPr lang="en-US" dirty="0">
                <a:latin typeface="Helvetica" panose="020B0604020202020204" pitchFamily="2" charset="0"/>
              </a:rPr>
              <a:t> - test whether adding a second lag MAR(2) improves model fit, capturing slower-moving employment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2" charset="0"/>
              </a:rPr>
              <a:t>Out-of-sample forecasting</a:t>
            </a:r>
            <a:r>
              <a:rPr lang="en-US" dirty="0">
                <a:latin typeface="Helvetica" panose="020B0604020202020204" pitchFamily="2" charset="0"/>
              </a:rPr>
              <a:t> - use the fitted MAR model to predict next month's employment matrix and compare forecast accuracy against a simple VAR benchmark</a:t>
            </a:r>
          </a:p>
          <a:p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45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479B-2900-CA12-B11B-1A6A6DA5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B19B03-366D-3797-89CB-13F5EBBA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FAC5DD-F404-8765-3F1D-A03480CE6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1452" y="905933"/>
            <a:ext cx="7549093" cy="204046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Thank you for your attention!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E69279-6448-7F06-4145-F8C394CE9050}"/>
              </a:ext>
            </a:extLst>
          </p:cNvPr>
          <p:cNvSpPr txBox="1">
            <a:spLocks/>
          </p:cNvSpPr>
          <p:nvPr/>
        </p:nvSpPr>
        <p:spPr>
          <a:xfrm>
            <a:off x="4538926" y="3852333"/>
            <a:ext cx="3114147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 Bold" panose="00000500000000000000" pitchFamily="50" charset="0"/>
                <a:ea typeface="Helvetica Bold" panose="00000500000000000000" pitchFamily="50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04908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848</TotalTime>
  <Words>1349</Words>
  <Application>Microsoft Office PowerPoint</Application>
  <PresentationFormat>Widescreen</PresentationFormat>
  <Paragraphs>183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Helvetica</vt:lpstr>
      <vt:lpstr>Helvetica Bold</vt:lpstr>
      <vt:lpstr>Office Theme</vt:lpstr>
      <vt:lpstr>Intermediate thesis presentation</vt:lpstr>
      <vt:lpstr>Research question</vt:lpstr>
      <vt:lpstr>First case</vt:lpstr>
      <vt:lpstr>Second case</vt:lpstr>
      <vt:lpstr>Third case</vt:lpstr>
      <vt:lpstr>Tensor Format Data</vt:lpstr>
      <vt:lpstr>What do we want?</vt:lpstr>
      <vt:lpstr>Vector Auto Regression (VAR)</vt:lpstr>
      <vt:lpstr>Stacking</vt:lpstr>
      <vt:lpstr>Problem?</vt:lpstr>
      <vt:lpstr>From VAR to MAR: Structured Coefficient Decomposition</vt:lpstr>
      <vt:lpstr>MAR</vt:lpstr>
      <vt:lpstr>PowerPoint Presentation</vt:lpstr>
      <vt:lpstr>Estimation of A and B: 3 main methods</vt:lpstr>
      <vt:lpstr>PowerPoint Presentation</vt:lpstr>
      <vt:lpstr>PowerPoint Presentation</vt:lpstr>
      <vt:lpstr>PowerPoint Presentation</vt:lpstr>
      <vt:lpstr>PowerPoint Presentation</vt:lpstr>
      <vt:lpstr>What should we do? </vt:lpstr>
      <vt:lpstr>PowerPoint Presentation</vt:lpstr>
      <vt:lpstr>PowerPoint Presentation</vt:lpstr>
      <vt:lpstr>PowerPoint Presentation</vt:lpstr>
      <vt:lpstr>Results for A and B using LSE</vt:lpstr>
      <vt:lpstr>Future work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Vasilev</dc:creator>
  <cp:lastModifiedBy>Vasilev, Igor (Stud. SBE)</cp:lastModifiedBy>
  <cp:revision>17</cp:revision>
  <dcterms:created xsi:type="dcterms:W3CDTF">2026-05-04T20:05:38Z</dcterms:created>
  <dcterms:modified xsi:type="dcterms:W3CDTF">2026-06-22T09:28:39Z</dcterms:modified>
</cp:coreProperties>
</file>